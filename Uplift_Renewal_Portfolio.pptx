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36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7.png" ContentType="image/png"/>
  <Override PartName="/ppt/media/image14.png" ContentType="image/png"/>
  <Override PartName="/ppt/media/image2.png" ContentType="image/png"/>
  <Override PartName="/ppt/media/image34.png" ContentType="image/png"/>
  <Override PartName="/ppt/media/image11.png" ContentType="image/png"/>
  <Override PartName="/ppt/media/image4.png" ContentType="image/png"/>
  <Override PartName="/ppt/media/image10.png" ContentType="image/png"/>
  <Override PartName="/ppt/media/image3.png" ContentType="image/png"/>
  <Override PartName="/ppt/media/image35.png" ContentType="image/png"/>
  <Override PartName="/ppt/media/image19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1.png" ContentType="image/png"/>
  <Override PartName="/ppt/media/image9.png" ContentType="image/png"/>
  <Override PartName="/ppt/media/image16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31.png" ContentType="image/png"/>
  <Override PartName="/ppt/media/image32.png" ContentType="image/png"/>
  <Override PartName="/ppt/media/image25.png" ContentType="image/png"/>
  <Override PartName="/ppt/media/image40.png" ContentType="image/png"/>
  <Override PartName="/ppt/media/image27.png" ContentType="image/png"/>
  <Override PartName="/ppt/media/image42.png" ContentType="image/png"/>
  <Override PartName="/ppt/media/image28.png" ContentType="image/png"/>
  <Override PartName="/ppt/media/image43.png" ContentType="image/png"/>
  <Override PartName="/ppt/media/image46.png" ContentType="image/png"/>
  <Override PartName="/ppt/media/image30.png" ContentType="image/png"/>
  <Override PartName="/ppt/media/image49.png" ContentType="image/png"/>
  <Override PartName="/ppt/media/image47.png" ContentType="image/png"/>
  <Override PartName="/ppt/media/image29.png" ContentType="image/png"/>
  <Override PartName="/ppt/media/image44.png" ContentType="image/png"/>
  <Override PartName="/ppt/media/image17.png" ContentType="image/png"/>
  <Override PartName="/ppt/media/image50.png" ContentType="image/png"/>
  <Override PartName="/ppt/media/image26.png" ContentType="image/png"/>
  <Override PartName="/ppt/media/image41.png" ContentType="image/png"/>
  <Override PartName="/ppt/media/image39.png" ContentType="image/png"/>
  <Override PartName="/ppt/media/image48.jpeg" ContentType="image/jpeg"/>
  <Override PartName="/ppt/media/image45.png" ContentType="image/png"/>
  <Override PartName="/ppt/media/image18.png" ContentType="image/png"/>
  <Override PartName="/ppt/media/image51.png" ContentType="image/png"/>
  <Override PartName="/ppt/slides/_rels/slide40.xml.rels" ContentType="application/vnd.openxmlformats-package.relationships+xml"/>
  <Override PartName="/ppt/slides/_rels/slide25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slides/slide34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36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7.xml.rels" ContentType="application/vnd.openxmlformats-package.relationships+xml"/>
  <Override PartName="/ppt/notesSlides/notesSlide3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Model targeting</c:v>
                </c:pt>
              </c:strCache>
            </c:strRef>
          </c:tx>
          <c:spPr>
            <a:solidFill>
              <a:srgbClr val="b7dd6b"/>
            </a:solidFill>
            <a:ln w="31680">
              <a:solidFill>
                <a:srgbClr val="b7dd6b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0.30</c:v>
                </c:pt>
                <c:pt idx="5">
                  <c:v>0.40</c:v>
                </c:pt>
                <c:pt idx="6">
                  <c:v>0.50</c:v>
                </c:pt>
                <c:pt idx="7">
                  <c:v>0.60</c:v>
                </c:pt>
                <c:pt idx="8">
                  <c:v>0.70</c:v>
                </c:pt>
                <c:pt idx="9">
                  <c:v>0.80</c:v>
                </c:pt>
                <c:pt idx="10">
                  <c:v>0.90</c:v>
                </c:pt>
                <c:pt idx="11">
                  <c:v>1.00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0.34</c:v>
                </c:pt>
                <c:pt idx="1">
                  <c:v>0.3</c:v>
                </c:pt>
                <c:pt idx="2">
                  <c:v>0.24</c:v>
                </c:pt>
                <c:pt idx="3">
                  <c:v>0.19</c:v>
                </c:pt>
                <c:pt idx="4">
                  <c:v>0.155</c:v>
                </c:pt>
                <c:pt idx="5">
                  <c:v>0.135</c:v>
                </c:pt>
                <c:pt idx="6">
                  <c:v>0.12</c:v>
                </c:pt>
                <c:pt idx="7">
                  <c:v>0.11</c:v>
                </c:pt>
                <c:pt idx="8">
                  <c:v>0.1</c:v>
                </c:pt>
                <c:pt idx="9">
                  <c:v>0.095</c:v>
                </c:pt>
                <c:pt idx="10">
                  <c:v>0.088</c:v>
                </c:pt>
                <c:pt idx="11">
                  <c:v>0.083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Random targeting</c:v>
                </c:pt>
              </c:strCache>
            </c:strRef>
          </c:tx>
          <c:spPr>
            <a:solidFill>
              <a:srgbClr val="ff7a5c"/>
            </a:solidFill>
            <a:ln w="31680">
              <a:solidFill>
                <a:srgbClr val="ff7a5c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0.30</c:v>
                </c:pt>
                <c:pt idx="5">
                  <c:v>0.40</c:v>
                </c:pt>
                <c:pt idx="6">
                  <c:v>0.50</c:v>
                </c:pt>
                <c:pt idx="7">
                  <c:v>0.60</c:v>
                </c:pt>
                <c:pt idx="8">
                  <c:v>0.70</c:v>
                </c:pt>
                <c:pt idx="9">
                  <c:v>0.80</c:v>
                </c:pt>
                <c:pt idx="10">
                  <c:v>0.90</c:v>
                </c:pt>
                <c:pt idx="11">
                  <c:v>1.00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2"/>
                <c:pt idx="0">
                  <c:v>0.083</c:v>
                </c:pt>
                <c:pt idx="1">
                  <c:v>0.083</c:v>
                </c:pt>
                <c:pt idx="2">
                  <c:v>0.083</c:v>
                </c:pt>
                <c:pt idx="3">
                  <c:v>0.083</c:v>
                </c:pt>
                <c:pt idx="4">
                  <c:v>0.083</c:v>
                </c:pt>
                <c:pt idx="5">
                  <c:v>0.083</c:v>
                </c:pt>
                <c:pt idx="6">
                  <c:v>0.083</c:v>
                </c:pt>
                <c:pt idx="7">
                  <c:v>0.083</c:v>
                </c:pt>
                <c:pt idx="8">
                  <c:v>0.083</c:v>
                </c:pt>
                <c:pt idx="9">
                  <c:v>0.083</c:v>
                </c:pt>
                <c:pt idx="10">
                  <c:v>0.083</c:v>
                </c:pt>
                <c:pt idx="11">
                  <c:v>0.083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21019942"/>
        <c:axId val="38000547"/>
      </c:lineChart>
      <c:catAx>
        <c:axId val="2101994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pc="-1" strike="noStrike">
                <a:solidFill>
                  <a:srgbClr val="adb4bd"/>
                </a:solidFill>
                <a:latin typeface="Courier New"/>
              </a:defRPr>
            </a:pPr>
          </a:p>
        </c:txPr>
        <c:crossAx val="38000547"/>
        <c:crosses val="autoZero"/>
        <c:auto val="1"/>
        <c:lblAlgn val="ctr"/>
        <c:lblOffset val="100"/>
        <c:noMultiLvlLbl val="0"/>
      </c:catAx>
      <c:valAx>
        <c:axId val="38000547"/>
        <c:scaling>
          <c:orientation val="minMax"/>
          <c:min val="0"/>
        </c:scaling>
        <c:delete val="0"/>
        <c:axPos val="l"/>
        <c:majorGridlines>
          <c:spPr>
            <a:ln w="6480">
              <a:solidFill>
                <a:srgbClr val="333b45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pc="-1" strike="noStrike">
                <a:solidFill>
                  <a:srgbClr val="adb4bd"/>
                </a:solidFill>
                <a:latin typeface="Courier New"/>
              </a:defRPr>
            </a:pPr>
          </a:p>
        </c:txPr>
        <c:crossAx val="21019942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900" spc="-1" strike="noStrike">
              <a:solidFill>
                <a:srgbClr val="adb4bd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308775-7923-4A9C-A4E2-2BEEA21A85D5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AFDC3-CEF1-4C9C-9C10-7468577ED1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5E1753-002E-465A-A89D-CE7BA778D1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B0048-5611-4254-842D-0A2A2D8684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AE7260-1C7B-43F0-9BF3-E631F9A1E6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81443-7634-43BF-BDE2-F210F8D148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319D6A-87C5-4C3A-802E-812FABF385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00E6A-3462-4B81-A9BF-431C7488EC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98952-CABD-41B4-B836-1C7F850C9D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19F057-702D-4DA9-84C1-16C0A9B41A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E07FF1-03C6-48DD-A68E-7E262C33B4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9B147-55E9-4B9E-8FC6-CD8FAA2449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6C1B0-3F8C-455B-851C-C6AA04EB62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70403-674F-4277-94A8-8AFBD3F006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7AEFB-07F4-4BFE-B6B5-2F35F97F80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8AB05A-9FDC-48CF-99E7-842276445D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2BC63A-DF64-4502-9105-9E726A23ED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1DAFD-A55B-49AB-9A5E-43FEE47BB2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BA50A-E7AD-4169-8257-5FA6B2DF40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FC2CBE-E6DF-4445-B432-854F499C9E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F219D8-949D-4DEF-BA2E-5D79B599C6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302C9-D878-4625-9014-B25AB29290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0C8104-0F28-49DF-B186-077A59D9A7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08DB14-2EBD-4170-8D9A-C2B465384E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84F64-088D-4E82-BACA-9FFB2FF362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C908AE-1DF6-4709-A62E-DA88018A2F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C69ED2-C633-4200-8E2C-C8873EAFDD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FEB9C8-A654-4A16-A827-0A2FB5502A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3DEB27-984B-4DB2-A765-F70AA8F58D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732BF-19C4-43F7-97F4-0AB82A76FD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D3E39D-5811-4EF0-A12F-8225B9DF7C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3685B-AE58-475C-9CAC-514C5F1CCF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7E1A4-3C26-4CCB-AEEB-A60B9FD4F2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69E60-0412-4DE4-81D7-9E444682DE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26684-275B-4C0D-AFFD-8A5D7C3A1E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4B87FC-030E-443F-BA22-0D9CDAD778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A061A-545E-442D-B92B-703762AB24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96007C-3B3D-4EF5-A317-348EBDA9B5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4AC12C-86E4-463B-B2A7-961ADEF2F7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FB8A53-BEB6-4506-84CC-29B343E76B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A8F23F-DC97-424D-9827-4382B2016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8.png"/><Relationship Id="rId7" Type="http://schemas.openxmlformats.org/officeDocument/2006/relationships/image" Target="../media/image2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5.png"/><Relationship Id="rId3" Type="http://schemas.openxmlformats.org/officeDocument/2006/relationships/image" Target="../media/image27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49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32.png"/><Relationship Id="rId3" Type="http://schemas.openxmlformats.org/officeDocument/2006/relationships/image" Target="../media/image6.png"/><Relationship Id="rId4" Type="http://schemas.openxmlformats.org/officeDocument/2006/relationships/image" Target="../media/image4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5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692640" y="4206240"/>
            <a:ext cx="2498760" cy="26514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692640" y="4206240"/>
            <a:ext cx="2498760" cy="4536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Image 0" descr="/home/claude/icons/trending_ink.png"/>
          <p:cNvPicPr/>
          <p:nvPr/>
        </p:nvPicPr>
        <p:blipFill>
          <a:blip r:embed="rId1"/>
          <a:stretch/>
        </p:blipFill>
        <p:spPr>
          <a:xfrm>
            <a:off x="10378440" y="4892040"/>
            <a:ext cx="1096920" cy="109692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822960" y="6858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b7dd6b"/>
                </a:solidFill>
                <a:latin typeface="Courier New"/>
                <a:ea typeface="Courier New"/>
              </a:rPr>
              <a:t>[ REFERENCE IMPLEMENTATION ]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22960" y="9874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148" strike="noStrike">
                <a:solidFill>
                  <a:srgbClr val="747e89"/>
                </a:solidFill>
                <a:latin typeface="Courier New"/>
                <a:ea typeface="Courier New"/>
              </a:rPr>
              <a:t>CAUSAL INFERENCE  ·  REVENUE OPERATIONS  ·  PORTFOLIO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22960" y="2286000"/>
            <a:ext cx="84121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4f1e8"/>
                </a:solidFill>
                <a:latin typeface="Cambria"/>
                <a:ea typeface="Cambria"/>
              </a:rPr>
              <a:t>Causal Uplift Renewal-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4f1e8"/>
                </a:solidFill>
                <a:latin typeface="Cambria"/>
                <a:ea typeface="Cambria"/>
              </a:rPr>
              <a:t>Discount Targeting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22960" y="379476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50" spc="-1" strike="noStrike">
                <a:solidFill>
                  <a:srgbClr val="adb4bd"/>
                </a:solidFill>
                <a:latin typeface="Calibri"/>
                <a:ea typeface="Calibri"/>
              </a:rPr>
              <a:t>A heterogeneous-treatment-effect model that targets renewal discounts by who a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50" spc="-1" strike="noStrike">
                <a:solidFill>
                  <a:srgbClr val="adb4bd"/>
                </a:solidFill>
                <a:latin typeface="Calibri"/>
                <a:ea typeface="Calibri"/>
              </a:rPr>
              <a:t>discount actually persuades  not by who is most likely to churn.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822960" y="5074920"/>
            <a:ext cx="2377080" cy="180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822960" y="525780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ambria"/>
                <a:ea typeface="Cambria"/>
              </a:rPr>
              <a:t>Anthony Chinedu Echem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22960" y="56692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Machine Learning Engineer &amp; Data Scientist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822960" y="61722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47e89"/>
                </a:solidFill>
                <a:latin typeface="Courier New"/>
                <a:ea typeface="Courier New"/>
              </a:rPr>
              <a:t>T-learner uplift model  ·  Qini validation  ·  discount-spend backtesting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EXECUTIVE SUMMARY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Spend the discount budget where it changes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renewal decision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40080" y="1783080"/>
            <a:ext cx="1088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This project builds a causal uplift model that estimates each renewing account’s individual treatment effect (ITE) from a retention discount — the difference between renewal probability with and without the offer. Rather than discounting everyone or targeting whoever looks likely to churn, it targets the accounts a discount actually swings.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40080" y="2880360"/>
            <a:ext cx="261468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841320" y="306324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Image 0" descr="/home/claude/icons/coins_acid.png"/>
          <p:cNvPicPr/>
          <p:nvPr/>
        </p:nvPicPr>
        <p:blipFill>
          <a:blip r:embed="rId1"/>
          <a:stretch/>
        </p:blipFill>
        <p:spPr>
          <a:xfrm>
            <a:off x="896040" y="311796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859680" y="3630240"/>
            <a:ext cx="217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ourier New"/>
                <a:ea typeface="Courier New"/>
              </a:rPr>
              <a:t>55%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59680" y="4105800"/>
            <a:ext cx="22309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Discount-spend reduction versus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blanket discounting, same targeting logic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456360" y="2880360"/>
            <a:ext cx="261468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3657600" y="306324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1" descr="/home/claude/icons/target_amber.png"/>
          <p:cNvPicPr/>
          <p:nvPr/>
        </p:nvPicPr>
        <p:blipFill>
          <a:blip r:embed="rId2"/>
          <a:stretch/>
        </p:blipFill>
        <p:spPr>
          <a:xfrm>
            <a:off x="3712320" y="311796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30" name="Text 9"/>
          <p:cNvSpPr/>
          <p:nvPr/>
        </p:nvSpPr>
        <p:spPr>
          <a:xfrm>
            <a:off x="3675960" y="3630240"/>
            <a:ext cx="217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ourier New"/>
                <a:ea typeface="Courier New"/>
              </a:rPr>
              <a:t>77.5%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3675960" y="4105800"/>
            <a:ext cx="22309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Precision of the top-45% targeted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segment on true persuadable accounts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6272640" y="2880360"/>
            <a:ext cx="261468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6473880" y="306324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2" descr="/home/claude/icons/gitcompare_acid.png"/>
          <p:cNvPicPr/>
          <p:nvPr/>
        </p:nvPicPr>
        <p:blipFill>
          <a:blip r:embed="rId3"/>
          <a:stretch/>
        </p:blipFill>
        <p:spPr>
          <a:xfrm>
            <a:off x="6528600" y="311796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35" name="Text 13"/>
          <p:cNvSpPr/>
          <p:nvPr/>
        </p:nvSpPr>
        <p:spPr>
          <a:xfrm>
            <a:off x="6492240" y="3630240"/>
            <a:ext cx="217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ourier New"/>
                <a:ea typeface="Courier New"/>
              </a:rPr>
              <a:t>0.522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6492240" y="4105800"/>
            <a:ext cx="22309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Correlation between predicted uplift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and simulated ground-truth effect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9089280" y="2880360"/>
            <a:ext cx="261468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6"/>
          <p:cNvSpPr/>
          <p:nvPr/>
        </p:nvSpPr>
        <p:spPr>
          <a:xfrm>
            <a:off x="9290160" y="306324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3" descr="/home/claude/icons/database_coral.png"/>
          <p:cNvPicPr/>
          <p:nvPr/>
        </p:nvPicPr>
        <p:blipFill>
          <a:blip r:embed="rId4"/>
          <a:stretch/>
        </p:blipFill>
        <p:spPr>
          <a:xfrm>
            <a:off x="9344880" y="311796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40" name="Text 17"/>
          <p:cNvSpPr/>
          <p:nvPr/>
        </p:nvSpPr>
        <p:spPr>
          <a:xfrm>
            <a:off x="9308520" y="3630240"/>
            <a:ext cx="217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ourier New"/>
                <a:ea typeface="Courier New"/>
              </a:rPr>
              <a:t>30,000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9308520" y="4105800"/>
            <a:ext cx="22309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Renewal accounts — 21,000 train /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9,000 held-out test, true randomization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640080" y="5074920"/>
            <a:ext cx="10881000" cy="1051200"/>
          </a:xfrm>
          <a:prstGeom prst="roundRect">
            <a:avLst>
              <a:gd name="adj" fmla="val 4348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868680" y="529452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4" descr="/home/claude/icons/warning_amber.png"/>
          <p:cNvPicPr/>
          <p:nvPr/>
        </p:nvPicPr>
        <p:blipFill>
          <a:blip r:embed="rId5"/>
          <a:stretch/>
        </p:blipFill>
        <p:spPr>
          <a:xfrm>
            <a:off x="939960" y="536580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45" name="Text 21"/>
          <p:cNvSpPr/>
          <p:nvPr/>
        </p:nvSpPr>
        <p:spPr>
          <a:xfrm>
            <a:off x="1600200" y="5230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2b84b"/>
                </a:solidFill>
                <a:latin typeface="Courier New"/>
                <a:ea typeface="Courier New"/>
              </a:rPr>
              <a:t>Read honestly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1600200" y="548640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f4f1e8"/>
                </a:solidFill>
                <a:latin typeface="Calibri"/>
                <a:ea typeface="Calibri"/>
              </a:rPr>
              <a:t>The Qini coefficient (0.080) sits below the briefing’s 0.15 aspirational target, which assumes a causal-forest upgrade (Slide 30). The spend and precision wins are real; the uplift-ranking quality has a clear, disclosed next step.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EXECUTIVE SUMMARY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02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ROADMAP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Presentation agenda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640080" y="196596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841320" y="21578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0" descr="/home/claude/icons/coins_acid.png"/>
          <p:cNvPicPr/>
          <p:nvPr/>
        </p:nvPicPr>
        <p:blipFill>
          <a:blip r:embed="rId1"/>
          <a:stretch/>
        </p:blipFill>
        <p:spPr>
          <a:xfrm>
            <a:off x="900720" y="22176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55" name="Text 4"/>
          <p:cNvSpPr/>
          <p:nvPr/>
        </p:nvSpPr>
        <p:spPr>
          <a:xfrm>
            <a:off x="1481400" y="2075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481400" y="22586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The Business Problem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481400" y="253296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Why blanket discounting and churn scores both fail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640080" y="300852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41320" y="32004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1" descr="/home/claude/icons/shuffle_coral.png"/>
          <p:cNvPicPr/>
          <p:nvPr/>
        </p:nvPicPr>
        <p:blipFill>
          <a:blip r:embed="rId2"/>
          <a:stretch/>
        </p:blipFill>
        <p:spPr>
          <a:xfrm>
            <a:off x="900720" y="32598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61" name="Text 9"/>
          <p:cNvSpPr/>
          <p:nvPr/>
        </p:nvSpPr>
        <p:spPr>
          <a:xfrm>
            <a:off x="1481400" y="3117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02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481400" y="33008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Data &amp; Experiment Design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481400" y="357516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30,000 accounts under a real randomized holdout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640080" y="405072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841320" y="42429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Image 2" descr="/home/claude/icons/funnel_amber.png"/>
          <p:cNvPicPr/>
          <p:nvPr/>
        </p:nvPicPr>
        <p:blipFill>
          <a:blip r:embed="rId3"/>
          <a:stretch/>
        </p:blipFill>
        <p:spPr>
          <a:xfrm>
            <a:off x="900720" y="43023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67" name="Text 14"/>
          <p:cNvSpPr/>
          <p:nvPr/>
        </p:nvSpPr>
        <p:spPr>
          <a:xfrm>
            <a:off x="1481400" y="4160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03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1481400" y="43434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Feature Engineering &amp; Segments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1481400" y="461772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Ten features across firmographics and engagement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640080" y="509328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841320" y="52851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3" descr="/home/claude/icons/cpu_acid.png"/>
          <p:cNvPicPr/>
          <p:nvPr/>
        </p:nvPicPr>
        <p:blipFill>
          <a:blip r:embed="rId4"/>
          <a:stretch/>
        </p:blipFill>
        <p:spPr>
          <a:xfrm>
            <a:off x="900720" y="53445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73" name="Text 19"/>
          <p:cNvSpPr/>
          <p:nvPr/>
        </p:nvSpPr>
        <p:spPr>
          <a:xfrm>
            <a:off x="1481400" y="5203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04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1481400" y="538596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Modeling Approach — T-Learner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1481400" y="566028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Two response surfaces, one individual treatment effect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6263640" y="196596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6464880" y="21578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4" descr="/home/claude/icons/gitcompare_coral.png"/>
          <p:cNvPicPr/>
          <p:nvPr/>
        </p:nvPicPr>
        <p:blipFill>
          <a:blip r:embed="rId5"/>
          <a:stretch/>
        </p:blipFill>
        <p:spPr>
          <a:xfrm>
            <a:off x="6524280" y="22176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79" name="Text 24"/>
          <p:cNvSpPr/>
          <p:nvPr/>
        </p:nvSpPr>
        <p:spPr>
          <a:xfrm>
            <a:off x="7104960" y="2075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05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7104960" y="22586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Evaluation &amp; Validation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7104960" y="253296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Qini curves, ground-truth correlation, honest gaps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6263640" y="300852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6464880" y="32004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5" descr="/home/claude/icons/target_amber.png"/>
          <p:cNvPicPr/>
          <p:nvPr/>
        </p:nvPicPr>
        <p:blipFill>
          <a:blip r:embed="rId6"/>
          <a:stretch/>
        </p:blipFill>
        <p:spPr>
          <a:xfrm>
            <a:off x="6524280" y="32598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85" name="Text 29"/>
          <p:cNvSpPr/>
          <p:nvPr/>
        </p:nvSpPr>
        <p:spPr>
          <a:xfrm>
            <a:off x="7104960" y="3117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06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7104960" y="33008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Business Impact &amp; Targeting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7104960" y="357516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Spend reduction and precision on the persuadable segment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6263640" y="4050720"/>
            <a:ext cx="5257440" cy="840960"/>
          </a:xfrm>
          <a:prstGeom prst="roundRect">
            <a:avLst>
              <a:gd name="adj" fmla="val 543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33"/>
          <p:cNvSpPr/>
          <p:nvPr/>
        </p:nvSpPr>
        <p:spPr>
          <a:xfrm>
            <a:off x="6464880" y="42429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6" descr="/home/claude/icons/scales_acid.png"/>
          <p:cNvPicPr/>
          <p:nvPr/>
        </p:nvPicPr>
        <p:blipFill>
          <a:blip r:embed="rId7"/>
          <a:stretch/>
        </p:blipFill>
        <p:spPr>
          <a:xfrm>
            <a:off x="6524280" y="43023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91" name="Text 34"/>
          <p:cNvSpPr/>
          <p:nvPr/>
        </p:nvSpPr>
        <p:spPr>
          <a:xfrm>
            <a:off x="7104960" y="4160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07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7104960" y="43434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4f1e8"/>
                </a:solidFill>
                <a:latin typeface="Cambria"/>
                <a:ea typeface="Cambria"/>
              </a:rPr>
              <a:t>Deployment &amp; Responsible Use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7104960" y="461772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Dashboard, model card, experiment-design guardrails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AGENDA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3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03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Image 0" descr="/home/claude/icons/coins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100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01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[ 01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ONE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The Business Problem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Two conventional playbooks for renewal discounting both leave money on the table — one overspends, the other aims at the wrong target.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1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THE DEFAULT PLAYBOOK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Blanket discounting spends against every renewal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640080" y="17830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The simplest retention play is to offer every renewing account a discount. It works — renewal rates are higher with an offer than without — but it also pays full discount cost on accounts that would have renewed anyway.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640080" y="260604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841320" y="280728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Image 0" descr="/home/claude/icons/x_coral.png"/>
          <p:cNvPicPr/>
          <p:nvPr/>
        </p:nvPicPr>
        <p:blipFill>
          <a:blip r:embed="rId1"/>
          <a:stretch/>
        </p:blipFill>
        <p:spPr>
          <a:xfrm>
            <a:off x="900720" y="286668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12" name="Text 5"/>
          <p:cNvSpPr/>
          <p:nvPr/>
        </p:nvSpPr>
        <p:spPr>
          <a:xfrm>
            <a:off x="841320" y="339228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4f1e8"/>
                </a:solidFill>
                <a:latin typeface="Cambria"/>
                <a:ea typeface="Cambria"/>
              </a:rPr>
              <a:t>Would renew anyway</a:t>
            </a:r>
            <a:endParaRPr b="0" lang="en-GB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841320" y="3776400"/>
            <a:ext cx="3099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A discount here is pure margin loss — the account never needed persuading.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325040" y="260604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526280" y="280728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1" descr="/home/claude/icons/check_acid.png"/>
          <p:cNvPicPr/>
          <p:nvPr/>
        </p:nvPicPr>
        <p:blipFill>
          <a:blip r:embed="rId2"/>
          <a:stretch/>
        </p:blipFill>
        <p:spPr>
          <a:xfrm>
            <a:off x="4585680" y="286668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4526280" y="339228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4f1e8"/>
                </a:solidFill>
                <a:latin typeface="Cambria"/>
                <a:ea typeface="Cambria"/>
              </a:rPr>
              <a:t>Genuinely persuadable</a:t>
            </a:r>
            <a:endParaRPr b="0" lang="en-GB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4526280" y="3776400"/>
            <a:ext cx="3099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A discount here is the entire point — it changes a churn into a renewal.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8010000" y="260604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8211240" y="280728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Image 2" descr="/home/claude/icons/x_coral.png"/>
          <p:cNvPicPr/>
          <p:nvPr/>
        </p:nvPicPr>
        <p:blipFill>
          <a:blip r:embed="rId3"/>
          <a:stretch/>
        </p:blipFill>
        <p:spPr>
          <a:xfrm>
            <a:off x="8270640" y="286668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22" name="Text 13"/>
          <p:cNvSpPr/>
          <p:nvPr/>
        </p:nvSpPr>
        <p:spPr>
          <a:xfrm>
            <a:off x="8211240" y="339228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4f1e8"/>
                </a:solidFill>
                <a:latin typeface="Cambria"/>
                <a:ea typeface="Cambria"/>
              </a:rPr>
              <a:t>Would churn regardless</a:t>
            </a:r>
            <a:endParaRPr b="0" lang="en-GB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8211240" y="3776400"/>
            <a:ext cx="3099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A discount here is also wasted — no offer at this price point changes the outcome.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640080" y="5120640"/>
            <a:ext cx="10881000" cy="1051200"/>
          </a:xfrm>
          <a:prstGeom prst="roundRect">
            <a:avLst>
              <a:gd name="adj" fmla="val 4348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914400" y="528516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4f1e8"/>
                </a:solidFill>
                <a:latin typeface="Calibri"/>
                <a:ea typeface="Calibri"/>
              </a:rPr>
              <a:t>Only the middle group — the persuadable segment — justifies the discount’s cost. Blanket discounting pays for all three groups at once; this project builds the model that tells you which group each account is in.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01 — BUSINESS PROBLEM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05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THE SECOND MISTAKE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Churn-propensity scores target the wrong axis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640080" y="17830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The natural next step is to discount accounts with the highest predicted churn risk. But churn risk and discount responsiveness are different questions — and conflating them routinely misdirects the budget.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640080" y="2560320"/>
            <a:ext cx="5257440" cy="1554120"/>
          </a:xfrm>
          <a:prstGeom prst="roundRect">
            <a:avLst>
              <a:gd name="adj" fmla="val 294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859680" y="2779920"/>
            <a:ext cx="127800" cy="1278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097280" y="2724840"/>
            <a:ext cx="4580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High churn risk, high uplift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859680" y="3090600"/>
            <a:ext cx="481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The ideal target — at risk, and a discount changes the outcome.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6080760" y="2560320"/>
            <a:ext cx="5257440" cy="1554120"/>
          </a:xfrm>
          <a:prstGeom prst="roundRect">
            <a:avLst>
              <a:gd name="adj" fmla="val 294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6300360" y="2779920"/>
            <a:ext cx="127800" cy="12780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6537960" y="2724840"/>
            <a:ext cx="4580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High churn risk, low uplift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6300360" y="3090600"/>
            <a:ext cx="481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“</a:t>
            </a: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Lost causes” — a propensity model chases these hardest; a discount rarely saves them.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640080" y="4297680"/>
            <a:ext cx="5257440" cy="1554120"/>
          </a:xfrm>
          <a:prstGeom prst="roundRect">
            <a:avLst>
              <a:gd name="adj" fmla="val 294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859680" y="4517280"/>
            <a:ext cx="127800" cy="12780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1097280" y="4462200"/>
            <a:ext cx="4580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Low churn risk, high uplift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859680" y="4827960"/>
            <a:ext cx="481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Easy to miss with propensity scoring — not obviously at risk, but genuinely persuadable.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6080760" y="4297680"/>
            <a:ext cx="5257440" cy="1554120"/>
          </a:xfrm>
          <a:prstGeom prst="roundRect">
            <a:avLst>
              <a:gd name="adj" fmla="val 294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6300360" y="4517280"/>
            <a:ext cx="127800" cy="127800"/>
          </a:xfrm>
          <a:prstGeom prst="rect">
            <a:avLst/>
          </a:prstGeom>
          <a:solidFill>
            <a:srgbClr val="adb4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6537960" y="4462200"/>
            <a:ext cx="4580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Low churn risk, low uplift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6300360" y="4827960"/>
            <a:ext cx="481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Would renew regardless — harmless to skip, wasteful to discount.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01 — BUSINESS PROBLEM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06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REFRAMING THE TASK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Predict the effect of the offer, not the outcome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640080" y="178308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A churn model predicts P(renew). An uplift model predicts a difference: P(renew | offered discount) − P(renew | no discount) for the same account — its individual treatment effect (ITE). That difference, not the raw renewal probability, is what should drive targeting.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640080" y="2743200"/>
            <a:ext cx="5211720" cy="3382920"/>
          </a:xfrm>
          <a:prstGeom prst="roundRect">
            <a:avLst>
              <a:gd name="adj" fmla="val 1351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914400" y="29718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b7dd6b"/>
                </a:solidFill>
                <a:latin typeface="Courier New"/>
                <a:ea typeface="Courier New"/>
              </a:rPr>
              <a:t>The ITE formula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914400" y="3429000"/>
            <a:ext cx="4663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4f1e8"/>
                </a:solidFill>
                <a:latin typeface="Courier New"/>
                <a:ea typeface="Courier New"/>
              </a:rPr>
              <a:t>ITE(x) = P(renew | X=x, treated) − P(renew | X=x, control)</a:t>
            </a:r>
            <a:endParaRPr b="0" lang="en-GB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914400" y="4434840"/>
            <a:ext cx="4663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Estimated per account from two separately trained response models — not observed directly, since no single account is ever both treated and untreated (Slide 21).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6080760" y="2743200"/>
            <a:ext cx="5440320" cy="3382920"/>
          </a:xfrm>
          <a:prstGeom prst="roundRect">
            <a:avLst>
              <a:gd name="adj" fmla="val 135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6355080" y="29718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2b84b"/>
                </a:solidFill>
                <a:latin typeface="Courier New"/>
                <a:ea typeface="Courier New"/>
              </a:rPr>
              <a:t>Why this reframing matters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6355080" y="338328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Image 0" descr="/home/claude/icons/check_acid.png"/>
          <p:cNvPicPr/>
          <p:nvPr/>
        </p:nvPicPr>
        <p:blipFill>
          <a:blip r:embed="rId1"/>
          <a:stretch/>
        </p:blipFill>
        <p:spPr>
          <a:xfrm>
            <a:off x="6395400" y="3423600"/>
            <a:ext cx="229680" cy="229680"/>
          </a:xfrm>
          <a:prstGeom prst="rect">
            <a:avLst/>
          </a:prstGeom>
          <a:ln w="0">
            <a:noFill/>
          </a:ln>
        </p:spPr>
      </p:pic>
      <p:sp>
        <p:nvSpPr>
          <p:cNvPr id="162" name="Text 10"/>
          <p:cNvSpPr/>
          <p:nvPr/>
        </p:nvSpPr>
        <p:spPr>
          <a:xfrm>
            <a:off x="6784920" y="336492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4f1e8"/>
                </a:solidFill>
                <a:latin typeface="Calibri"/>
                <a:ea typeface="Calibri"/>
              </a:rPr>
              <a:t>Ranks accounts by responsiveness to the specific lever (a discount), not general risk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1"/>
          <p:cNvSpPr/>
          <p:nvPr/>
        </p:nvSpPr>
        <p:spPr>
          <a:xfrm>
            <a:off x="6355080" y="416952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4" name="Image 1" descr="/home/claude/icons/check_acid.png"/>
          <p:cNvPicPr/>
          <p:nvPr/>
        </p:nvPicPr>
        <p:blipFill>
          <a:blip r:embed="rId2"/>
          <a:stretch/>
        </p:blipFill>
        <p:spPr>
          <a:xfrm>
            <a:off x="6395400" y="4210200"/>
            <a:ext cx="229680" cy="229680"/>
          </a:xfrm>
          <a:prstGeom prst="rect">
            <a:avLst/>
          </a:prstGeom>
          <a:ln w="0">
            <a:noFill/>
          </a:ln>
        </p:spPr>
      </p:pic>
      <p:sp>
        <p:nvSpPr>
          <p:cNvPr id="165" name="Text 12"/>
          <p:cNvSpPr/>
          <p:nvPr/>
        </p:nvSpPr>
        <p:spPr>
          <a:xfrm>
            <a:off x="6784920" y="415152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4f1e8"/>
                </a:solidFill>
                <a:latin typeface="Calibri"/>
                <a:ea typeface="Calibri"/>
              </a:rPr>
              <a:t>Naturally excludes both "sure things" and "lost causes" from the target list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6355080" y="495612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7" name="Image 2" descr="/home/claude/icons/check_acid.png"/>
          <p:cNvPicPr/>
          <p:nvPr/>
        </p:nvPicPr>
        <p:blipFill>
          <a:blip r:embed="rId3"/>
          <a:stretch/>
        </p:blipFill>
        <p:spPr>
          <a:xfrm>
            <a:off x="6395400" y="4996440"/>
            <a:ext cx="229680" cy="229680"/>
          </a:xfrm>
          <a:prstGeom prst="rect">
            <a:avLst/>
          </a:prstGeom>
          <a:ln w="0">
            <a:noFill/>
          </a:ln>
        </p:spPr>
      </p:pic>
      <p:sp>
        <p:nvSpPr>
          <p:cNvPr id="168" name="Text 14"/>
          <p:cNvSpPr/>
          <p:nvPr/>
        </p:nvSpPr>
        <p:spPr>
          <a:xfrm>
            <a:off x="6784920" y="493776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4f1e8"/>
                </a:solidFill>
                <a:latin typeface="Calibri"/>
                <a:ea typeface="Calibri"/>
              </a:rPr>
              <a:t>Requires randomized treatment data to estimate validly — sets up Section 02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01 — BUSINESS PROBLEM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07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PROJECT OBJECTIVES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What this project set out to prove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640080" y="17830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84132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6" name="Image 0" descr="/home/claude/icons/gitcompare_acid.png"/>
          <p:cNvPicPr/>
          <p:nvPr/>
        </p:nvPicPr>
        <p:blipFill>
          <a:blip r:embed="rId1"/>
          <a:stretch/>
        </p:blipFill>
        <p:spPr>
          <a:xfrm>
            <a:off x="90072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77" name="Text 4"/>
          <p:cNvSpPr/>
          <p:nvPr/>
        </p:nvSpPr>
        <p:spPr>
          <a:xfrm>
            <a:off x="841320" y="25693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Estimate individual treatment effect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41320" y="29170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Score every renewing account with a per-account causal uplift estimate, not a propensity score.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4325040" y="17830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452628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1" descr="/home/claude/icons/target_coral.png"/>
          <p:cNvPicPr/>
          <p:nvPr/>
        </p:nvPicPr>
        <p:blipFill>
          <a:blip r:embed="rId2"/>
          <a:stretch/>
        </p:blipFill>
        <p:spPr>
          <a:xfrm>
            <a:off x="458568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82" name="Text 8"/>
          <p:cNvSpPr/>
          <p:nvPr/>
        </p:nvSpPr>
        <p:spPr>
          <a:xfrm>
            <a:off x="4526280" y="25693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Validate against ground truth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4526280" y="29170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Use the synthetic cohort’s known true effect to directly check uplift-recovery quality — impossible in most real deployments.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8010000" y="17830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821124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Image 2" descr="/home/claude/icons/coins_amber.png"/>
          <p:cNvPicPr/>
          <p:nvPr/>
        </p:nvPicPr>
        <p:blipFill>
          <a:blip r:embed="rId3"/>
          <a:stretch/>
        </p:blipFill>
        <p:spPr>
          <a:xfrm>
            <a:off x="827064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87" name="Text 12"/>
          <p:cNvSpPr/>
          <p:nvPr/>
        </p:nvSpPr>
        <p:spPr>
          <a:xfrm>
            <a:off x="8211240" y="25693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Cut discount spend, not renewals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8211240" y="29170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Show a targeting rule that spends less while protecting the renewal rate the discount programme exists to defend.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640080" y="38404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841320" y="40417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1" name="Image 3" descr="/home/claude/icons/warning_acid.png"/>
          <p:cNvPicPr/>
          <p:nvPr/>
        </p:nvPicPr>
        <p:blipFill>
          <a:blip r:embed="rId4"/>
          <a:stretch/>
        </p:blipFill>
        <p:spPr>
          <a:xfrm>
            <a:off x="900720" y="41011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92" name="Text 16"/>
          <p:cNvSpPr/>
          <p:nvPr/>
        </p:nvSpPr>
        <p:spPr>
          <a:xfrm>
            <a:off x="841320" y="46267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Report the Qini gap honestly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841320" y="49744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Benchmark against the standard uplift metric and disclose exactly where this model falls short of the aspirational target.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4325040" y="38404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4526280" y="40417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6" name="Image 4" descr="/home/claude/icons/scales_coral.png"/>
          <p:cNvPicPr/>
          <p:nvPr/>
        </p:nvPicPr>
        <p:blipFill>
          <a:blip r:embed="rId5"/>
          <a:stretch/>
        </p:blipFill>
        <p:spPr>
          <a:xfrm>
            <a:off x="4585680" y="41011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97" name="Text 20"/>
          <p:cNvSpPr/>
          <p:nvPr/>
        </p:nvSpPr>
        <p:spPr>
          <a:xfrm>
            <a:off x="4526280" y="46267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Respect the experiment design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4526280" y="49744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Treat the randomized holdout as a hard requirement, not a formality — and say so for future deployments.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8010000" y="3840480"/>
            <a:ext cx="3501720" cy="1874160"/>
          </a:xfrm>
          <a:prstGeom prst="roundRect">
            <a:avLst>
              <a:gd name="adj" fmla="val 243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8211240" y="40417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Image 5" descr="/home/claude/icons/clipboard_amber.png"/>
          <p:cNvPicPr/>
          <p:nvPr/>
        </p:nvPicPr>
        <p:blipFill>
          <a:blip r:embed="rId6"/>
          <a:stretch/>
        </p:blipFill>
        <p:spPr>
          <a:xfrm>
            <a:off x="8270640" y="41011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202" name="Text 24"/>
          <p:cNvSpPr/>
          <p:nvPr/>
        </p:nvSpPr>
        <p:spPr>
          <a:xfrm>
            <a:off x="8211240" y="4626720"/>
            <a:ext cx="309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Package for stakeholder review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8211240" y="497448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adb4bd"/>
                </a:solidFill>
                <a:latin typeface="Calibri"/>
                <a:ea typeface="Calibri"/>
              </a:rPr>
              <a:t>Deliver a model card, Qini report, and dashboard a RevOps leader can actually act on.</a:t>
            </a:r>
            <a:endParaRPr b="0" lang="en-GB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01 — BUSINESS PROBLEM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28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08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0" descr="/home/claude/icons/shuffle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210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02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[ 02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TWO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Data &amp; Experiment Design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30,000 renewal accounts under a true randomized holdout — the one precondition that makes causal targeting valid.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2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DATASET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A randomized renewal-account cohort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640080" y="1783080"/>
            <a:ext cx="6674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db4bd"/>
                </a:solidFill>
                <a:latin typeface="Calibri"/>
                <a:ea typeface="Calibri"/>
              </a:rPr>
              <a:t>30,000 renewal accounts, each with firmographic and engagement features, a randomized discount-offer flag, and an observed renewal outcome. A synthetic ground-truth causal effect is also retained — for validation only, never for training.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640080" y="27432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b7dd6b"/>
                </a:solidFill>
                <a:latin typeface="Courier New"/>
                <a:ea typeface="Courier New"/>
              </a:rPr>
              <a:t>Schema (14 columns × 30,000 rows)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640080" y="3063240"/>
            <a:ext cx="6674760" cy="383760"/>
          </a:xfrm>
          <a:prstGeom prst="rect">
            <a:avLst/>
          </a:prstGeom>
          <a:solidFill>
            <a:srgbClr val="1e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749880" y="30816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account_id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846320" y="30816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Unique identifier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6537960" y="308160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Key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640080" y="3447360"/>
            <a:ext cx="6674760" cy="38376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749880" y="346572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arr, seat_count, contract_length_months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846320" y="346572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Firmographic account size fields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6537960" y="346572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Feature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640080" y="3831480"/>
            <a:ext cx="6674760" cy="383760"/>
          </a:xfrm>
          <a:prstGeom prst="rect">
            <a:avLst/>
          </a:prstGeom>
          <a:solidFill>
            <a:srgbClr val="1e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749880" y="38494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tenure_months, prior_discount_count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4846320" y="38494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Relationship history fields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6537960" y="384948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Feature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6"/>
          <p:cNvSpPr/>
          <p:nvPr/>
        </p:nvSpPr>
        <p:spPr>
          <a:xfrm>
            <a:off x="640080" y="4215240"/>
            <a:ext cx="6674760" cy="52992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749880" y="4233600"/>
            <a:ext cx="4023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usage_trend_30d, feature_adoption_breadth,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seat_utilization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4846320" y="423360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Product-engagement fields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9"/>
          <p:cNvSpPr/>
          <p:nvPr/>
        </p:nvSpPr>
        <p:spPr>
          <a:xfrm>
            <a:off x="6537960" y="4233600"/>
            <a:ext cx="7311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Feature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0"/>
          <p:cNvSpPr/>
          <p:nvPr/>
        </p:nvSpPr>
        <p:spPr>
          <a:xfrm>
            <a:off x="640080" y="4745880"/>
            <a:ext cx="6674760" cy="383760"/>
          </a:xfrm>
          <a:prstGeom prst="rect">
            <a:avLst/>
          </a:prstGeom>
          <a:solidFill>
            <a:srgbClr val="1e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749880" y="47638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support_tickets_90d, nps_score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22"/>
          <p:cNvSpPr/>
          <p:nvPr/>
        </p:nvSpPr>
        <p:spPr>
          <a:xfrm>
            <a:off x="4846320" y="47638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Support &amp; sentiment fields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23"/>
          <p:cNvSpPr/>
          <p:nvPr/>
        </p:nvSpPr>
        <p:spPr>
          <a:xfrm>
            <a:off x="6537960" y="476388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Feature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4"/>
          <p:cNvSpPr/>
          <p:nvPr/>
        </p:nvSpPr>
        <p:spPr>
          <a:xfrm>
            <a:off x="640080" y="5129640"/>
            <a:ext cx="6674760" cy="38376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749880" y="51480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treated_discount_offered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6"/>
          <p:cNvSpPr/>
          <p:nvPr/>
        </p:nvSpPr>
        <p:spPr>
          <a:xfrm>
            <a:off x="4846320" y="51480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Randomized treatment flag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7"/>
          <p:cNvSpPr/>
          <p:nvPr/>
        </p:nvSpPr>
        <p:spPr>
          <a:xfrm>
            <a:off x="6537960" y="514800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Treatment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8"/>
          <p:cNvSpPr/>
          <p:nvPr/>
        </p:nvSpPr>
        <p:spPr>
          <a:xfrm>
            <a:off x="640080" y="5513760"/>
            <a:ext cx="6674760" cy="383760"/>
          </a:xfrm>
          <a:prstGeom prst="rect">
            <a:avLst/>
          </a:prstGeom>
          <a:solidFill>
            <a:srgbClr val="1e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9"/>
          <p:cNvSpPr/>
          <p:nvPr/>
        </p:nvSpPr>
        <p:spPr>
          <a:xfrm>
            <a:off x="749880" y="553212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renewed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0"/>
          <p:cNvSpPr/>
          <p:nvPr/>
        </p:nvSpPr>
        <p:spPr>
          <a:xfrm>
            <a:off x="4846320" y="553212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Observed renewal outcome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31"/>
          <p:cNvSpPr/>
          <p:nvPr/>
        </p:nvSpPr>
        <p:spPr>
          <a:xfrm>
            <a:off x="6537960" y="553212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Target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2"/>
          <p:cNvSpPr/>
          <p:nvPr/>
        </p:nvSpPr>
        <p:spPr>
          <a:xfrm>
            <a:off x="640080" y="5897880"/>
            <a:ext cx="6674760" cy="38376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33"/>
          <p:cNvSpPr/>
          <p:nvPr/>
        </p:nvSpPr>
        <p:spPr>
          <a:xfrm>
            <a:off x="749880" y="59162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4f1e8"/>
                </a:solidFill>
                <a:latin typeface="Courier New"/>
                <a:ea typeface="Courier New"/>
              </a:rPr>
              <a:t>_true_causal_effect_logodds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34"/>
          <p:cNvSpPr/>
          <p:nvPr/>
        </p:nvSpPr>
        <p:spPr>
          <a:xfrm>
            <a:off x="4846320" y="59162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db4bd"/>
                </a:solidFill>
                <a:latin typeface="Calibri"/>
                <a:ea typeface="Calibri"/>
              </a:rPr>
              <a:t>Synthetic ground truth (validation only)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35"/>
          <p:cNvSpPr/>
          <p:nvPr/>
        </p:nvSpPr>
        <p:spPr>
          <a:xfrm>
            <a:off x="6537960" y="591624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2b84b"/>
                </a:solidFill>
                <a:latin typeface="Courier New"/>
                <a:ea typeface="Courier New"/>
              </a:rPr>
              <a:t>Val. only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36"/>
          <p:cNvSpPr/>
          <p:nvPr/>
        </p:nvSpPr>
        <p:spPr>
          <a:xfrm>
            <a:off x="7589520" y="1783080"/>
            <a:ext cx="3931560" cy="4480200"/>
          </a:xfrm>
          <a:prstGeom prst="roundRect">
            <a:avLst>
              <a:gd name="adj" fmla="val 116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37"/>
          <p:cNvSpPr/>
          <p:nvPr/>
        </p:nvSpPr>
        <p:spPr>
          <a:xfrm>
            <a:off x="7863840" y="19659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Cohort at a glance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8"/>
          <p:cNvSpPr/>
          <p:nvPr/>
        </p:nvSpPr>
        <p:spPr>
          <a:xfrm>
            <a:off x="7863840" y="23774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ourier New"/>
                <a:ea typeface="Courier New"/>
              </a:rPr>
              <a:t>30,000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9"/>
          <p:cNvSpPr/>
          <p:nvPr/>
        </p:nvSpPr>
        <p:spPr>
          <a:xfrm>
            <a:off x="7863840" y="2743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total renewal accounts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40"/>
          <p:cNvSpPr/>
          <p:nvPr/>
        </p:nvSpPr>
        <p:spPr>
          <a:xfrm>
            <a:off x="7863840" y="30722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ourier New"/>
                <a:ea typeface="Courier New"/>
              </a:rPr>
              <a:t>80.3%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41"/>
          <p:cNvSpPr/>
          <p:nvPr/>
        </p:nvSpPr>
        <p:spPr>
          <a:xfrm>
            <a:off x="7863840" y="34380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received the discount offer (treated)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2"/>
          <p:cNvSpPr/>
          <p:nvPr/>
        </p:nvSpPr>
        <p:spPr>
          <a:xfrm>
            <a:off x="7863840" y="3767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ourier New"/>
                <a:ea typeface="Courier New"/>
              </a:rPr>
              <a:t>74.0%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43"/>
          <p:cNvSpPr/>
          <p:nvPr/>
        </p:nvSpPr>
        <p:spPr>
          <a:xfrm>
            <a:off x="7863840" y="4133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overall renewal rate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44"/>
          <p:cNvSpPr/>
          <p:nvPr/>
        </p:nvSpPr>
        <p:spPr>
          <a:xfrm>
            <a:off x="7863840" y="4462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ourier New"/>
                <a:ea typeface="Courier New"/>
              </a:rPr>
              <a:t>21,000 / 9,000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45"/>
          <p:cNvSpPr/>
          <p:nvPr/>
        </p:nvSpPr>
        <p:spPr>
          <a:xfrm>
            <a:off x="7863840" y="4827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train / held-out test split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6"/>
          <p:cNvSpPr/>
          <p:nvPr/>
        </p:nvSpPr>
        <p:spPr>
          <a:xfrm>
            <a:off x="7863840" y="5157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ourier New"/>
                <a:ea typeface="Courier New"/>
              </a:rPr>
              <a:t>1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47"/>
          <p:cNvSpPr/>
          <p:nvPr/>
        </p:nvSpPr>
        <p:spPr>
          <a:xfrm>
            <a:off x="7863840" y="5523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randomized binary treatment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4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4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5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10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THE FEATURE SET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Ten features, three business categories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640080" y="17830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db4bd"/>
                </a:solidFill>
                <a:latin typeface="Calibri"/>
                <a:ea typeface="Calibri"/>
              </a:rPr>
              <a:t>Every input is a field a RevOps or CS platform already tracks — nothing here requires new instrumentation to deploy.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40080" y="2377440"/>
            <a:ext cx="3501720" cy="384012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822960" y="25970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2" name="Image 0" descr="/home/claude/icons/database_acid.png"/>
          <p:cNvPicPr/>
          <p:nvPr/>
        </p:nvPicPr>
        <p:blipFill>
          <a:blip r:embed="rId1"/>
          <a:stretch/>
        </p:blipFill>
        <p:spPr>
          <a:xfrm>
            <a:off x="882360" y="26564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273" name="Text 5"/>
          <p:cNvSpPr/>
          <p:nvPr/>
        </p:nvSpPr>
        <p:spPr>
          <a:xfrm>
            <a:off x="822960" y="3163680"/>
            <a:ext cx="313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Firmographic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822960" y="3474720"/>
            <a:ext cx="313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3 features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7"/>
          <p:cNvSpPr/>
          <p:nvPr/>
        </p:nvSpPr>
        <p:spPr>
          <a:xfrm>
            <a:off x="822960" y="382212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8"/>
          <p:cNvSpPr/>
          <p:nvPr/>
        </p:nvSpPr>
        <p:spPr>
          <a:xfrm>
            <a:off x="914400" y="382212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arr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9"/>
          <p:cNvSpPr/>
          <p:nvPr/>
        </p:nvSpPr>
        <p:spPr>
          <a:xfrm>
            <a:off x="822960" y="42609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0"/>
          <p:cNvSpPr/>
          <p:nvPr/>
        </p:nvSpPr>
        <p:spPr>
          <a:xfrm>
            <a:off x="914400" y="42609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seat_count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1"/>
          <p:cNvSpPr/>
          <p:nvPr/>
        </p:nvSpPr>
        <p:spPr>
          <a:xfrm>
            <a:off x="822960" y="47001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2"/>
          <p:cNvSpPr/>
          <p:nvPr/>
        </p:nvSpPr>
        <p:spPr>
          <a:xfrm>
            <a:off x="914400" y="47001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contract_length_months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3"/>
          <p:cNvSpPr/>
          <p:nvPr/>
        </p:nvSpPr>
        <p:spPr>
          <a:xfrm>
            <a:off x="4325040" y="2377440"/>
            <a:ext cx="3501720" cy="384012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4"/>
          <p:cNvSpPr/>
          <p:nvPr/>
        </p:nvSpPr>
        <p:spPr>
          <a:xfrm>
            <a:off x="4507920" y="25970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Image 1" descr="/home/claude/icons/clock_amber.png"/>
          <p:cNvPicPr/>
          <p:nvPr/>
        </p:nvPicPr>
        <p:blipFill>
          <a:blip r:embed="rId2"/>
          <a:stretch/>
        </p:blipFill>
        <p:spPr>
          <a:xfrm>
            <a:off x="4567320" y="26564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284" name="Text 15"/>
          <p:cNvSpPr/>
          <p:nvPr/>
        </p:nvSpPr>
        <p:spPr>
          <a:xfrm>
            <a:off x="4507920" y="3163680"/>
            <a:ext cx="313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Relationship history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4507920" y="3474720"/>
            <a:ext cx="313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4 features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7"/>
          <p:cNvSpPr/>
          <p:nvPr/>
        </p:nvSpPr>
        <p:spPr>
          <a:xfrm>
            <a:off x="4507920" y="382212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18"/>
          <p:cNvSpPr/>
          <p:nvPr/>
        </p:nvSpPr>
        <p:spPr>
          <a:xfrm>
            <a:off x="4599360" y="382212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tenure_months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19"/>
          <p:cNvSpPr/>
          <p:nvPr/>
        </p:nvSpPr>
        <p:spPr>
          <a:xfrm>
            <a:off x="4507920" y="42609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0"/>
          <p:cNvSpPr/>
          <p:nvPr/>
        </p:nvSpPr>
        <p:spPr>
          <a:xfrm>
            <a:off x="4599360" y="42609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prior_discount_count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1"/>
          <p:cNvSpPr/>
          <p:nvPr/>
        </p:nvSpPr>
        <p:spPr>
          <a:xfrm>
            <a:off x="4507920" y="47001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2"/>
          <p:cNvSpPr/>
          <p:nvPr/>
        </p:nvSpPr>
        <p:spPr>
          <a:xfrm>
            <a:off x="4599360" y="47001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support_tickets_90d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23"/>
          <p:cNvSpPr/>
          <p:nvPr/>
        </p:nvSpPr>
        <p:spPr>
          <a:xfrm>
            <a:off x="4507920" y="513900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4"/>
          <p:cNvSpPr/>
          <p:nvPr/>
        </p:nvSpPr>
        <p:spPr>
          <a:xfrm>
            <a:off x="4599360" y="513900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nps_score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25"/>
          <p:cNvSpPr/>
          <p:nvPr/>
        </p:nvSpPr>
        <p:spPr>
          <a:xfrm>
            <a:off x="8010000" y="2377440"/>
            <a:ext cx="3501720" cy="384012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26"/>
          <p:cNvSpPr/>
          <p:nvPr/>
        </p:nvSpPr>
        <p:spPr>
          <a:xfrm>
            <a:off x="8192880" y="25970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6" name="Image 2" descr="/home/claude/icons/trending_coral.png"/>
          <p:cNvPicPr/>
          <p:nvPr/>
        </p:nvPicPr>
        <p:blipFill>
          <a:blip r:embed="rId3"/>
          <a:stretch/>
        </p:blipFill>
        <p:spPr>
          <a:xfrm>
            <a:off x="8252640" y="26564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297" name="Text 27"/>
          <p:cNvSpPr/>
          <p:nvPr/>
        </p:nvSpPr>
        <p:spPr>
          <a:xfrm>
            <a:off x="8192880" y="3163680"/>
            <a:ext cx="313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Product engagement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8"/>
          <p:cNvSpPr/>
          <p:nvPr/>
        </p:nvSpPr>
        <p:spPr>
          <a:xfrm>
            <a:off x="8192880" y="3474720"/>
            <a:ext cx="313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3 features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29"/>
          <p:cNvSpPr/>
          <p:nvPr/>
        </p:nvSpPr>
        <p:spPr>
          <a:xfrm>
            <a:off x="8192880" y="382212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0"/>
          <p:cNvSpPr/>
          <p:nvPr/>
        </p:nvSpPr>
        <p:spPr>
          <a:xfrm>
            <a:off x="8284320" y="382212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usage_trend_30d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31"/>
          <p:cNvSpPr/>
          <p:nvPr/>
        </p:nvSpPr>
        <p:spPr>
          <a:xfrm>
            <a:off x="8192880" y="42609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2"/>
          <p:cNvSpPr/>
          <p:nvPr/>
        </p:nvSpPr>
        <p:spPr>
          <a:xfrm>
            <a:off x="8284320" y="42609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feature_adoption_breadth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33"/>
          <p:cNvSpPr/>
          <p:nvPr/>
        </p:nvSpPr>
        <p:spPr>
          <a:xfrm>
            <a:off x="8192880" y="4700160"/>
            <a:ext cx="3135960" cy="365400"/>
          </a:xfrm>
          <a:prstGeom prst="rect">
            <a:avLst/>
          </a:prstGeom>
          <a:solidFill>
            <a:srgbClr val="0a0c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4"/>
          <p:cNvSpPr/>
          <p:nvPr/>
        </p:nvSpPr>
        <p:spPr>
          <a:xfrm>
            <a:off x="8284320" y="470016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ourier New"/>
                <a:ea typeface="Courier New"/>
              </a:rPr>
              <a:t>seat_utilization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35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6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7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11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EXPERIMENT DESIGN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An unequal, but randomized, holdout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640080" y="17830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80.3% of accounts were randomly offered the discount; 19.7% were randomly held back as a control group. Unequal split sizes are common in real holdout designs — few teams can afford to withhold treatment from half their renewals — and randomization, not the split ratio, is what makes the comparison valid.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640080" y="2880360"/>
            <a:ext cx="6034680" cy="3200040"/>
          </a:xfrm>
          <a:prstGeom prst="roundRect">
            <a:avLst>
              <a:gd name="adj" fmla="val 1429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914400" y="3108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Treatment split (n = 30,000)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914400" y="3657600"/>
            <a:ext cx="4405320" cy="9140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5320080" y="3657600"/>
            <a:ext cx="1080360" cy="9140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914400" y="3657600"/>
            <a:ext cx="4405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4171c"/>
                </a:solidFill>
                <a:latin typeface="Courier New"/>
                <a:ea typeface="Courier New"/>
              </a:rPr>
              <a:t>Treated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4171c"/>
                </a:solidFill>
                <a:latin typeface="Courier New"/>
                <a:ea typeface="Courier New"/>
              </a:rPr>
              <a:t>80.3%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5320080" y="3657600"/>
            <a:ext cx="1080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71c"/>
                </a:solidFill>
                <a:latin typeface="Courier New"/>
                <a:ea typeface="Courier New"/>
              </a:rPr>
              <a:t>Control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71c"/>
                </a:solidFill>
                <a:latin typeface="Courier New"/>
                <a:ea typeface="Courier New"/>
              </a:rPr>
              <a:t>19.7%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914400" y="480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24,079 accounts offered a discount  ·  5,921 accounts held out as control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6858000" y="2880360"/>
            <a:ext cx="4663080" cy="3200040"/>
          </a:xfrm>
          <a:prstGeom prst="roundRect">
            <a:avLst>
              <a:gd name="adj" fmla="val 1429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7132320" y="310896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2b84b"/>
                </a:solidFill>
                <a:latin typeface="Courier New"/>
                <a:ea typeface="Courier New"/>
              </a:rPr>
              <a:t>Why randomization is non-negotiable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7132320" y="361188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If discounts were historically given to accounts a rep judged "at risk," treated and control accounts would differ systematically — any renewal-rate gap would be confounded, not causal. Randomization is what lets the observed rate difference (Slide 13) be read as a treatment effect at all.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12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AVERAGE TREATMENT EFFECT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discount works, on average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640080" y="178308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Because assignment is random, the raw renewal-rate gap between treated and control is already an unbiased estimate of the average treatment effect — no adjustment needed. The open question isn’t whether the discount works on average; it’s who it works on.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640080" y="2743200"/>
            <a:ext cx="6126120" cy="3565800"/>
          </a:xfrm>
          <a:prstGeom prst="roundRect">
            <a:avLst>
              <a:gd name="adj" fmla="val 128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914400" y="29260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Renewal rate, full cohort (n = 30,000)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1554480" y="4655520"/>
            <a:ext cx="1737000" cy="13334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1554480" y="43264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ourier New"/>
                <a:ea typeface="Courier New"/>
              </a:rPr>
              <a:t>66.3%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1234440" y="6062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Control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(no discount)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4206240" y="4462560"/>
            <a:ext cx="1737000" cy="15264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4206240" y="41331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ourier New"/>
                <a:ea typeface="Courier New"/>
              </a:rPr>
              <a:t>75.9%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0"/>
          <p:cNvSpPr/>
          <p:nvPr/>
        </p:nvSpPr>
        <p:spPr>
          <a:xfrm>
            <a:off x="3886200" y="6062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Treated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(discount offered)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11"/>
          <p:cNvSpPr/>
          <p:nvPr/>
        </p:nvSpPr>
        <p:spPr>
          <a:xfrm>
            <a:off x="1188720" y="5989320"/>
            <a:ext cx="5120640" cy="360"/>
          </a:xfrm>
          <a:prstGeom prst="line">
            <a:avLst/>
          </a:prstGeom>
          <a:ln w="1587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12"/>
          <p:cNvSpPr/>
          <p:nvPr/>
        </p:nvSpPr>
        <p:spPr>
          <a:xfrm>
            <a:off x="7040880" y="2743200"/>
            <a:ext cx="4480200" cy="3565800"/>
          </a:xfrm>
          <a:prstGeom prst="roundRect">
            <a:avLst>
              <a:gd name="adj" fmla="val 128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7315200" y="30175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b7dd6b"/>
                </a:solidFill>
                <a:latin typeface="Courier New"/>
                <a:ea typeface="Courier New"/>
              </a:rPr>
              <a:t>+9.6</a:t>
            </a:r>
            <a:endParaRPr b="0" lang="en-GB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4"/>
          <p:cNvSpPr/>
          <p:nvPr/>
        </p:nvSpPr>
        <p:spPr>
          <a:xfrm>
            <a:off x="7315200" y="37947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points — average treatment effect on renewal rate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5"/>
          <p:cNvSpPr/>
          <p:nvPr/>
        </p:nvSpPr>
        <p:spPr>
          <a:xfrm>
            <a:off x="7315200" y="4434840"/>
            <a:ext cx="384048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7315200" y="4617720"/>
            <a:ext cx="3840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This average masks huge heterogeneity — some accounts gain 30+ points, others near zero. The uplift model exists to separate them (Section 04).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13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VALIDATION DESIGN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A synthetic ground truth, used only to check the model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640080" y="178308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Every account carries a hidden `_true_causal_effect_logodds` value — the actual simulated treatment effect used to generate the data. This column is never available to the model at training or scoring time; it exists solely so this deck can report how well predicted uplift recovers the true effect (Slide 28).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640080" y="2880360"/>
            <a:ext cx="2377080" cy="2285640"/>
          </a:xfrm>
          <a:prstGeom prst="roundRect">
            <a:avLst>
              <a:gd name="adj" fmla="val 2000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4"/>
          <p:cNvSpPr/>
          <p:nvPr/>
        </p:nvSpPr>
        <p:spPr>
          <a:xfrm>
            <a:off x="1600200" y="30816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9" name="Image 0" descr="/home/claude/icons/sliders_amber.png"/>
          <p:cNvPicPr/>
          <p:nvPr/>
        </p:nvPicPr>
        <p:blipFill>
          <a:blip r:embed="rId1"/>
          <a:stretch/>
        </p:blipFill>
        <p:spPr>
          <a:xfrm>
            <a:off x="1659600" y="31410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50" name="Text 5"/>
          <p:cNvSpPr/>
          <p:nvPr/>
        </p:nvSpPr>
        <p:spPr>
          <a:xfrm>
            <a:off x="768240" y="3703320"/>
            <a:ext cx="212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f1e8"/>
                </a:solidFill>
                <a:latin typeface="Cambria"/>
                <a:ea typeface="Cambria"/>
              </a:rPr>
              <a:t>Simulate true effect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786240" y="4206240"/>
            <a:ext cx="2084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Each account gets a hidden ground-truth ITE when the cohort is generated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731520" y="2587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3337560" y="2880360"/>
            <a:ext cx="2377080" cy="2285640"/>
          </a:xfrm>
          <a:prstGeom prst="roundRect">
            <a:avLst>
              <a:gd name="adj" fmla="val 2000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4297680" y="30816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5" name="Image 1" descr="/home/claude/icons/lock_amber.png"/>
          <p:cNvPicPr/>
          <p:nvPr/>
        </p:nvPicPr>
        <p:blipFill>
          <a:blip r:embed="rId2"/>
          <a:stretch/>
        </p:blipFill>
        <p:spPr>
          <a:xfrm>
            <a:off x="4357080" y="31410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56" name="Text 10"/>
          <p:cNvSpPr/>
          <p:nvPr/>
        </p:nvSpPr>
        <p:spPr>
          <a:xfrm>
            <a:off x="3465720" y="3703320"/>
            <a:ext cx="212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f1e8"/>
                </a:solidFill>
                <a:latin typeface="Cambria"/>
                <a:ea typeface="Cambria"/>
              </a:rPr>
              <a:t>Train on visible fields only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3483720" y="4206240"/>
            <a:ext cx="2084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Model never sees the true-effect column — only features + treatment + outcome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3429000" y="2587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2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3"/>
          <p:cNvSpPr/>
          <p:nvPr/>
        </p:nvSpPr>
        <p:spPr>
          <a:xfrm>
            <a:off x="6035040" y="2880360"/>
            <a:ext cx="2377080" cy="2285640"/>
          </a:xfrm>
          <a:prstGeom prst="roundRect">
            <a:avLst>
              <a:gd name="adj" fmla="val 2000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6995160" y="30816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1" name="Image 2" descr="/home/claude/icons/gitcompare_amber.png"/>
          <p:cNvPicPr/>
          <p:nvPr/>
        </p:nvPicPr>
        <p:blipFill>
          <a:blip r:embed="rId3"/>
          <a:stretch/>
        </p:blipFill>
        <p:spPr>
          <a:xfrm>
            <a:off x="7054560" y="31410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62" name="Text 15"/>
          <p:cNvSpPr/>
          <p:nvPr/>
        </p:nvSpPr>
        <p:spPr>
          <a:xfrm>
            <a:off x="6163200" y="3703320"/>
            <a:ext cx="212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f1e8"/>
                </a:solidFill>
                <a:latin typeface="Cambria"/>
                <a:ea typeface="Cambria"/>
              </a:rPr>
              <a:t>Score the held-out test set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16"/>
          <p:cNvSpPr/>
          <p:nvPr/>
        </p:nvSpPr>
        <p:spPr>
          <a:xfrm>
            <a:off x="6181200" y="4206240"/>
            <a:ext cx="2084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Model outputs predicted_ite per account, with no access to ground truth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6126480" y="2587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3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8732520" y="2880360"/>
            <a:ext cx="2377080" cy="2285640"/>
          </a:xfrm>
          <a:prstGeom prst="roundRect">
            <a:avLst>
              <a:gd name="adj" fmla="val 2000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9"/>
          <p:cNvSpPr/>
          <p:nvPr/>
        </p:nvSpPr>
        <p:spPr>
          <a:xfrm>
            <a:off x="9692640" y="30816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7" name="Image 3" descr="/home/claude/icons/target_acid.png"/>
          <p:cNvPicPr/>
          <p:nvPr/>
        </p:nvPicPr>
        <p:blipFill>
          <a:blip r:embed="rId4"/>
          <a:stretch/>
        </p:blipFill>
        <p:spPr>
          <a:xfrm>
            <a:off x="9752040" y="31410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68" name="Text 20"/>
          <p:cNvSpPr/>
          <p:nvPr/>
        </p:nvSpPr>
        <p:spPr>
          <a:xfrm>
            <a:off x="8860680" y="3703320"/>
            <a:ext cx="212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f1e8"/>
                </a:solidFill>
                <a:latin typeface="Cambria"/>
                <a:ea typeface="Cambria"/>
              </a:rPr>
              <a:t>Compare after the fact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8878680" y="4206240"/>
            <a:ext cx="2084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True effect is revealed only for evaluation — correlation = 0.522 (Slide 28)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8823960" y="2587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47e89"/>
                </a:solidFill>
                <a:latin typeface="Courier New"/>
                <a:ea typeface="Courier New"/>
              </a:rPr>
              <a:t>4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23"/>
          <p:cNvSpPr/>
          <p:nvPr/>
        </p:nvSpPr>
        <p:spPr>
          <a:xfrm>
            <a:off x="3035880" y="386784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171c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2" name="Image 4" descr="/home/claude/icons/arrowright_cream.png"/>
          <p:cNvPicPr/>
          <p:nvPr/>
        </p:nvPicPr>
        <p:blipFill>
          <a:blip r:embed="rId5"/>
          <a:stretch/>
        </p:blipFill>
        <p:spPr>
          <a:xfrm>
            <a:off x="3073680" y="3906000"/>
            <a:ext cx="216000" cy="216000"/>
          </a:xfrm>
          <a:prstGeom prst="rect">
            <a:avLst/>
          </a:prstGeom>
          <a:ln w="0">
            <a:noFill/>
          </a:ln>
        </p:spPr>
      </p:pic>
      <p:sp>
        <p:nvSpPr>
          <p:cNvPr id="373" name="Shape 24"/>
          <p:cNvSpPr/>
          <p:nvPr/>
        </p:nvSpPr>
        <p:spPr>
          <a:xfrm>
            <a:off x="5733360" y="386784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171c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4" name="Image 5" descr="/home/claude/icons/arrowright_cream.png"/>
          <p:cNvPicPr/>
          <p:nvPr/>
        </p:nvPicPr>
        <p:blipFill>
          <a:blip r:embed="rId6"/>
          <a:stretch/>
        </p:blipFill>
        <p:spPr>
          <a:xfrm>
            <a:off x="5771160" y="3906000"/>
            <a:ext cx="216000" cy="216000"/>
          </a:xfrm>
          <a:prstGeom prst="rect">
            <a:avLst/>
          </a:prstGeom>
          <a:ln w="0">
            <a:noFill/>
          </a:ln>
        </p:spPr>
      </p:pic>
      <p:sp>
        <p:nvSpPr>
          <p:cNvPr id="375" name="Shape 25"/>
          <p:cNvSpPr/>
          <p:nvPr/>
        </p:nvSpPr>
        <p:spPr>
          <a:xfrm>
            <a:off x="8430840" y="386784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171c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6" name="Image 6" descr="/home/claude/icons/arrowright_cream.png"/>
          <p:cNvPicPr/>
          <p:nvPr/>
        </p:nvPicPr>
        <p:blipFill>
          <a:blip r:embed="rId7"/>
          <a:stretch/>
        </p:blipFill>
        <p:spPr>
          <a:xfrm>
            <a:off x="8468640" y="3906000"/>
            <a:ext cx="216000" cy="216000"/>
          </a:xfrm>
          <a:prstGeom prst="rect">
            <a:avLst/>
          </a:prstGeom>
          <a:ln w="0">
            <a:noFill/>
          </a:ln>
        </p:spPr>
      </p:pic>
      <p:sp>
        <p:nvSpPr>
          <p:cNvPr id="377" name="Text 26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27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28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14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DATA TRANSPARENCY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Synthetic, randomized, and disclosed as both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2"/>
          <p:cNvSpPr/>
          <p:nvPr/>
        </p:nvSpPr>
        <p:spPr>
          <a:xfrm>
            <a:off x="640080" y="1783080"/>
            <a:ext cx="3501720" cy="2834280"/>
          </a:xfrm>
          <a:prstGeom prst="roundRect">
            <a:avLst>
              <a:gd name="adj" fmla="val 161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84132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4" name="Image 0" descr="/home/claude/icons/lock_acid.png"/>
          <p:cNvPicPr/>
          <p:nvPr/>
        </p:nvPicPr>
        <p:blipFill>
          <a:blip r:embed="rId1"/>
          <a:stretch/>
        </p:blipFill>
        <p:spPr>
          <a:xfrm>
            <a:off x="90324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385" name="Text 4"/>
          <p:cNvSpPr/>
          <p:nvPr/>
        </p:nvSpPr>
        <p:spPr>
          <a:xfrm>
            <a:off x="841320" y="2606040"/>
            <a:ext cx="309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Why synthetic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841320" y="295344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A generated cohort avoids depending on a real production discount experiment for a portfolio piece, while still requiring genuine causal-inference discipline to build correctly.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4325040" y="1783080"/>
            <a:ext cx="3501720" cy="2834280"/>
          </a:xfrm>
          <a:prstGeom prst="roundRect">
            <a:avLst>
              <a:gd name="adj" fmla="val 161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452628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Image 1" descr="/home/claude/icons/scales_amber.png"/>
          <p:cNvPicPr/>
          <p:nvPr/>
        </p:nvPicPr>
        <p:blipFill>
          <a:blip r:embed="rId2"/>
          <a:stretch/>
        </p:blipFill>
        <p:spPr>
          <a:xfrm>
            <a:off x="458820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390" name="Text 8"/>
          <p:cNvSpPr/>
          <p:nvPr/>
        </p:nvSpPr>
        <p:spPr>
          <a:xfrm>
            <a:off x="4526280" y="2606040"/>
            <a:ext cx="309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Why the design still matters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4526280" y="295344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randomization, the outcome model, and the evaluation methodology are all real practice — the same pipeline runs unchanged against a real experiment’s export.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10"/>
          <p:cNvSpPr/>
          <p:nvPr/>
        </p:nvSpPr>
        <p:spPr>
          <a:xfrm>
            <a:off x="8010000" y="1783080"/>
            <a:ext cx="3501720" cy="2834280"/>
          </a:xfrm>
          <a:prstGeom prst="roundRect">
            <a:avLst>
              <a:gd name="adj" fmla="val 161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821124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4" name="Image 2" descr="/home/claude/icons/clipboard_coral.png"/>
          <p:cNvPicPr/>
          <p:nvPr/>
        </p:nvPicPr>
        <p:blipFill>
          <a:blip r:embed="rId3"/>
          <a:stretch/>
        </p:blipFill>
        <p:spPr>
          <a:xfrm>
            <a:off x="827316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395" name="Text 12"/>
          <p:cNvSpPr/>
          <p:nvPr/>
        </p:nvSpPr>
        <p:spPr>
          <a:xfrm>
            <a:off x="8211240" y="2606040"/>
            <a:ext cx="309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What the model card says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3"/>
          <p:cNvSpPr/>
          <p:nvPr/>
        </p:nvSpPr>
        <p:spPr>
          <a:xfrm>
            <a:off x="8211240" y="295344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model card and EXTENDING.md both state plainly that historical, non-randomized data must never be substituted for this design in production (Slide 39).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14"/>
          <p:cNvSpPr/>
          <p:nvPr/>
        </p:nvSpPr>
        <p:spPr>
          <a:xfrm>
            <a:off x="640080" y="4800600"/>
            <a:ext cx="10881000" cy="1234080"/>
          </a:xfrm>
          <a:prstGeom prst="roundRect">
            <a:avLst>
              <a:gd name="adj" fmla="val 3704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5"/>
          <p:cNvSpPr/>
          <p:nvPr/>
        </p:nvSpPr>
        <p:spPr>
          <a:xfrm>
            <a:off x="868680" y="502920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9" name="Image 3" descr="/home/claude/icons/eye_acid.png"/>
          <p:cNvPicPr/>
          <p:nvPr/>
        </p:nvPicPr>
        <p:blipFill>
          <a:blip r:embed="rId4"/>
          <a:stretch/>
        </p:blipFill>
        <p:spPr>
          <a:xfrm>
            <a:off x="939960" y="51004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400" name="Text 16"/>
          <p:cNvSpPr/>
          <p:nvPr/>
        </p:nvSpPr>
        <p:spPr>
          <a:xfrm>
            <a:off x="1600200" y="4956120"/>
            <a:ext cx="9600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A methodological choice, stated up front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7"/>
          <p:cNvSpPr/>
          <p:nvPr/>
        </p:nvSpPr>
        <p:spPr>
          <a:xfrm>
            <a:off x="1600200" y="5266800"/>
            <a:ext cx="9417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f4f1e8"/>
                </a:solidFill>
                <a:latin typeface="Calibri"/>
                <a:ea typeface="Calibri"/>
              </a:rPr>
              <a:t>Naming "synthetic cohort" and "requires real randomization" as headline caveats — not footnotes — is itself part of demonstrating responsible causal-ML practice.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02 — DATA &amp; EXPERIMENT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15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7" name="Image 0" descr="/home/claude/icons/funnel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408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03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[ 03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THREE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Feature Engineering &amp; Segments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Ten fields, three business categories — and one signal that turns out to matter more than any other.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3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SEGMENTING THE BASE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What each feature category captures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640080" y="1783080"/>
            <a:ext cx="10881000" cy="1416960"/>
          </a:xfrm>
          <a:prstGeom prst="roundRect">
            <a:avLst>
              <a:gd name="adj" fmla="val 32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3"/>
          <p:cNvSpPr/>
          <p:nvPr/>
        </p:nvSpPr>
        <p:spPr>
          <a:xfrm>
            <a:off x="859680" y="2075760"/>
            <a:ext cx="566640" cy="566640"/>
          </a:xfrm>
          <a:prstGeom prst="roundRect">
            <a:avLst>
              <a:gd name="adj" fmla="val 1290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8" name="Image 0" descr="/home/claude/icons/database_acid.png"/>
          <p:cNvPicPr/>
          <p:nvPr/>
        </p:nvPicPr>
        <p:blipFill>
          <a:blip r:embed="rId1"/>
          <a:stretch/>
        </p:blipFill>
        <p:spPr>
          <a:xfrm>
            <a:off x="933120" y="214956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419" name="Text 4"/>
          <p:cNvSpPr/>
          <p:nvPr/>
        </p:nvSpPr>
        <p:spPr>
          <a:xfrm>
            <a:off x="1645920" y="1929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ambria"/>
                <a:ea typeface="Cambria"/>
              </a:rPr>
              <a:t>Firmographic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1645920" y="226764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2b857"/>
                </a:solidFill>
                <a:latin typeface="Courier New"/>
                <a:ea typeface="Courier New"/>
              </a:rPr>
              <a:t>arr · seat_count · contract_length_months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1645920" y="256932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Account size and commitment — the features a finance team would reach for first, and the weakest uplift signal in this cohort (Slide 24).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640080" y="3383280"/>
            <a:ext cx="10881000" cy="1416960"/>
          </a:xfrm>
          <a:prstGeom prst="roundRect">
            <a:avLst>
              <a:gd name="adj" fmla="val 32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859680" y="3675960"/>
            <a:ext cx="566640" cy="566640"/>
          </a:xfrm>
          <a:prstGeom prst="roundRect">
            <a:avLst>
              <a:gd name="adj" fmla="val 1290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4" name="Image 1" descr="/home/claude/icons/clock_amber.png"/>
          <p:cNvPicPr/>
          <p:nvPr/>
        </p:nvPicPr>
        <p:blipFill>
          <a:blip r:embed="rId2"/>
          <a:stretch/>
        </p:blipFill>
        <p:spPr>
          <a:xfrm>
            <a:off x="933120" y="374976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425" name="Text 9"/>
          <p:cNvSpPr/>
          <p:nvPr/>
        </p:nvSpPr>
        <p:spPr>
          <a:xfrm>
            <a:off x="1645920" y="3529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ambria"/>
                <a:ea typeface="Cambria"/>
              </a:rPr>
              <a:t>Relationship history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1645920" y="386784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2b857"/>
                </a:solidFill>
                <a:latin typeface="Courier New"/>
                <a:ea typeface="Courier New"/>
              </a:rPr>
              <a:t>tenure_months · prior_discount_count · support_tickets_90d · nps_score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1645920" y="416952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How the account has experienced the relationship so far — including whether it has been discounted before.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640080" y="4983480"/>
            <a:ext cx="10881000" cy="1416960"/>
          </a:xfrm>
          <a:prstGeom prst="roundRect">
            <a:avLst>
              <a:gd name="adj" fmla="val 32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3"/>
          <p:cNvSpPr/>
          <p:nvPr/>
        </p:nvSpPr>
        <p:spPr>
          <a:xfrm>
            <a:off x="859680" y="5276160"/>
            <a:ext cx="566640" cy="566640"/>
          </a:xfrm>
          <a:prstGeom prst="roundRect">
            <a:avLst>
              <a:gd name="adj" fmla="val 1290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0" name="Image 2" descr="/home/claude/icons/trending_coral.png"/>
          <p:cNvPicPr/>
          <p:nvPr/>
        </p:nvPicPr>
        <p:blipFill>
          <a:blip r:embed="rId3"/>
          <a:stretch/>
        </p:blipFill>
        <p:spPr>
          <a:xfrm>
            <a:off x="933120" y="5349960"/>
            <a:ext cx="419040" cy="419040"/>
          </a:xfrm>
          <a:prstGeom prst="rect">
            <a:avLst/>
          </a:prstGeom>
          <a:ln w="0">
            <a:noFill/>
          </a:ln>
        </p:spPr>
      </p:pic>
      <p:sp>
        <p:nvSpPr>
          <p:cNvPr id="431" name="Text 14"/>
          <p:cNvSpPr/>
          <p:nvPr/>
        </p:nvSpPr>
        <p:spPr>
          <a:xfrm>
            <a:off x="1645920" y="51296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f1e8"/>
                </a:solidFill>
                <a:latin typeface="Cambria"/>
                <a:ea typeface="Cambria"/>
              </a:rPr>
              <a:t>Product engagement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15"/>
          <p:cNvSpPr/>
          <p:nvPr/>
        </p:nvSpPr>
        <p:spPr>
          <a:xfrm>
            <a:off x="1645920" y="546804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2b857"/>
                </a:solidFill>
                <a:latin typeface="Courier New"/>
                <a:ea typeface="Courier New"/>
              </a:rPr>
              <a:t>usage_trend_30d · feature_adoption_breadth · seat_utilization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16"/>
          <p:cNvSpPr/>
          <p:nvPr/>
        </p:nvSpPr>
        <p:spPr>
          <a:xfrm>
            <a:off x="1645920" y="576972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Recent momentum in how the product is actually used — the single strongest predictor in both response models.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1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03 — FEATURE ENGINEERING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1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1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17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9692640" y="0"/>
            <a:ext cx="2498760" cy="68576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1"/>
          <p:cNvSpPr/>
          <p:nvPr/>
        </p:nvSpPr>
        <p:spPr>
          <a:xfrm>
            <a:off x="640080" y="5029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f2b84b"/>
                </a:solidFill>
                <a:latin typeface="Courier New"/>
                <a:ea typeface="Courier New"/>
              </a:rPr>
              <a:t>// KEY INSIGHT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640080" y="822960"/>
            <a:ext cx="8686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Usage momentum outweighs firmographics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640080" y="1783080"/>
            <a:ext cx="8503560" cy="1416960"/>
          </a:xfrm>
          <a:prstGeom prst="roundRect">
            <a:avLst>
              <a:gd name="adj" fmla="val 3226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914400" y="193860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50" spc="-1" strike="noStrike">
                <a:solidFill>
                  <a:srgbClr val="f4f1e8"/>
                </a:solidFill>
                <a:latin typeface="Calibri"/>
                <a:ea typeface="Calibri"/>
              </a:rPr>
              <a:t>“</a:t>
            </a:r>
            <a:r>
              <a:rPr b="0" i="1" lang="en-US" sz="1550" spc="-1" strike="noStrike">
                <a:solidFill>
                  <a:srgbClr val="f4f1e8"/>
                </a:solidFill>
                <a:latin typeface="Calibri"/>
                <a:ea typeface="Calibri"/>
              </a:rPr>
              <a:t>usage_trend_30d carries roughly 3× the weight of any firmographic field in predicting renewal — whether or not the account was offered a discount.”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5"/>
          <p:cNvSpPr/>
          <p:nvPr/>
        </p:nvSpPr>
        <p:spPr>
          <a:xfrm>
            <a:off x="640080" y="342900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3" name="Image 0" descr="/home/claude/icons/trending_acid.png"/>
          <p:cNvPicPr/>
          <p:nvPr/>
        </p:nvPicPr>
        <p:blipFill>
          <a:blip r:embed="rId1"/>
          <a:stretch/>
        </p:blipFill>
        <p:spPr>
          <a:xfrm>
            <a:off x="694800" y="348372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444" name="Text 6"/>
          <p:cNvSpPr/>
          <p:nvPr/>
        </p:nvSpPr>
        <p:spPr>
          <a:xfrm>
            <a:off x="1234440" y="341064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Not account size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7"/>
          <p:cNvSpPr/>
          <p:nvPr/>
        </p:nvSpPr>
        <p:spPr>
          <a:xfrm>
            <a:off x="1234440" y="3684960"/>
            <a:ext cx="7680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arr and seat_count rank near the bottom of both response models’ feature importance — bigger accounts are not inherently more persuadable.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8"/>
          <p:cNvSpPr/>
          <p:nvPr/>
        </p:nvSpPr>
        <p:spPr>
          <a:xfrm>
            <a:off x="640080" y="461772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7" name="Image 1" descr="/home/claude/icons/trending_acid.png"/>
          <p:cNvPicPr/>
          <p:nvPr/>
        </p:nvPicPr>
        <p:blipFill>
          <a:blip r:embed="rId2"/>
          <a:stretch/>
        </p:blipFill>
        <p:spPr>
          <a:xfrm>
            <a:off x="694800" y="4672440"/>
            <a:ext cx="311040" cy="311040"/>
          </a:xfrm>
          <a:prstGeom prst="rect">
            <a:avLst/>
          </a:prstGeom>
          <a:ln w="0">
            <a:noFill/>
          </a:ln>
        </p:spPr>
      </p:pic>
      <p:sp>
        <p:nvSpPr>
          <p:cNvPr id="448" name="Text 9"/>
          <p:cNvSpPr/>
          <p:nvPr/>
        </p:nvSpPr>
        <p:spPr>
          <a:xfrm>
            <a:off x="1234440" y="459936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A recency signal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0"/>
          <p:cNvSpPr/>
          <p:nvPr/>
        </p:nvSpPr>
        <p:spPr>
          <a:xfrm>
            <a:off x="1234440" y="4873680"/>
            <a:ext cx="7680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30-day usage trend outperforms lifetime engagement measures — what an account is doing right now predicts renewal better than its history.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11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03 — FEATURE ENGINEERING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12"/>
          <p:cNvSpPr/>
          <p:nvPr/>
        </p:nvSpPr>
        <p:spPr>
          <a:xfrm>
            <a:off x="8321040" y="65469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18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SETTING UP THE MODEL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One feature vector, two questions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640080" y="178308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The same 10-feature vector is asked two separate questions: "how likely to renew if treated?" and "how likely to renew if not?" The gap between the answers is the account’s estimated treatment effect — this is the T-learner design detailed in Section 04.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640080" y="2788920"/>
            <a:ext cx="3291480" cy="3062880"/>
          </a:xfrm>
          <a:prstGeom prst="roundRect">
            <a:avLst>
              <a:gd name="adj" fmla="val 149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914400" y="30175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7" name="Image 0" descr="/home/claude/icons/layers_cream.png"/>
          <p:cNvPicPr/>
          <p:nvPr/>
        </p:nvPicPr>
        <p:blipFill>
          <a:blip r:embed="rId1"/>
          <a:stretch/>
        </p:blipFill>
        <p:spPr>
          <a:xfrm>
            <a:off x="979920" y="3083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58" name="Text 5"/>
          <p:cNvSpPr/>
          <p:nvPr/>
        </p:nvSpPr>
        <p:spPr>
          <a:xfrm>
            <a:off x="914400" y="3657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Feature vector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914400" y="397764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10 fields per account, identical inputs to both models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7"/>
          <p:cNvSpPr/>
          <p:nvPr/>
        </p:nvSpPr>
        <p:spPr>
          <a:xfrm>
            <a:off x="4114800" y="411480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b7dd6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1" name="Image 1" descr="/home/claude/icons/arrowright_ink.png"/>
          <p:cNvPicPr/>
          <p:nvPr/>
        </p:nvPicPr>
        <p:blipFill>
          <a:blip r:embed="rId2"/>
          <a:stretch/>
        </p:blipFill>
        <p:spPr>
          <a:xfrm>
            <a:off x="4162320" y="416232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462" name="Shape 8"/>
          <p:cNvSpPr/>
          <p:nvPr/>
        </p:nvSpPr>
        <p:spPr>
          <a:xfrm>
            <a:off x="4663440" y="2788920"/>
            <a:ext cx="3200040" cy="1371240"/>
          </a:xfrm>
          <a:prstGeom prst="roundRect">
            <a:avLst>
              <a:gd name="adj" fmla="val 3333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9"/>
          <p:cNvSpPr/>
          <p:nvPr/>
        </p:nvSpPr>
        <p:spPr>
          <a:xfrm>
            <a:off x="4892040" y="3017520"/>
            <a:ext cx="127800" cy="1278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10"/>
          <p:cNvSpPr/>
          <p:nvPr/>
        </p:nvSpPr>
        <p:spPr>
          <a:xfrm>
            <a:off x="5120640" y="29718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b7dd6b"/>
                </a:solidFill>
                <a:latin typeface="Courier New"/>
                <a:ea typeface="Courier New"/>
              </a:rPr>
              <a:t>Model — Treated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11"/>
          <p:cNvSpPr/>
          <p:nvPr/>
        </p:nvSpPr>
        <p:spPr>
          <a:xfrm>
            <a:off x="4892040" y="333756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P(renew | X, treated)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12"/>
          <p:cNvSpPr/>
          <p:nvPr/>
        </p:nvSpPr>
        <p:spPr>
          <a:xfrm>
            <a:off x="4663440" y="4434840"/>
            <a:ext cx="3200040" cy="1371240"/>
          </a:xfrm>
          <a:prstGeom prst="roundRect">
            <a:avLst>
              <a:gd name="adj" fmla="val 3333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3"/>
          <p:cNvSpPr/>
          <p:nvPr/>
        </p:nvSpPr>
        <p:spPr>
          <a:xfrm>
            <a:off x="4892040" y="4663440"/>
            <a:ext cx="127800" cy="12780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4"/>
          <p:cNvSpPr/>
          <p:nvPr/>
        </p:nvSpPr>
        <p:spPr>
          <a:xfrm>
            <a:off x="5120640" y="461772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7a5c"/>
                </a:solidFill>
                <a:latin typeface="Courier New"/>
                <a:ea typeface="Courier New"/>
              </a:rPr>
              <a:t>Model — Control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15"/>
          <p:cNvSpPr/>
          <p:nvPr/>
        </p:nvSpPr>
        <p:spPr>
          <a:xfrm>
            <a:off x="4892040" y="498348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P(renew | X, control)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6"/>
          <p:cNvSpPr/>
          <p:nvPr/>
        </p:nvSpPr>
        <p:spPr>
          <a:xfrm>
            <a:off x="8229600" y="411480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f2b84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1" name="Image 2" descr="/home/claude/icons/minus_ink.png"/>
          <p:cNvPicPr/>
          <p:nvPr/>
        </p:nvPicPr>
        <p:blipFill>
          <a:blip r:embed="rId3"/>
          <a:stretch/>
        </p:blipFill>
        <p:spPr>
          <a:xfrm>
            <a:off x="8277120" y="416232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472" name="Shape 17"/>
          <p:cNvSpPr/>
          <p:nvPr/>
        </p:nvSpPr>
        <p:spPr>
          <a:xfrm>
            <a:off x="8869680" y="3291840"/>
            <a:ext cx="2651400" cy="1645560"/>
          </a:xfrm>
          <a:prstGeom prst="roundRect">
            <a:avLst>
              <a:gd name="adj" fmla="val 2778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8"/>
          <p:cNvSpPr/>
          <p:nvPr/>
        </p:nvSpPr>
        <p:spPr>
          <a:xfrm>
            <a:off x="9098280" y="3520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Individual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9"/>
          <p:cNvSpPr/>
          <p:nvPr/>
        </p:nvSpPr>
        <p:spPr>
          <a:xfrm>
            <a:off x="9098280" y="37947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mbria"/>
                <a:ea typeface="Cambria"/>
              </a:rPr>
              <a:t>Treatment Effect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0"/>
          <p:cNvSpPr/>
          <p:nvPr/>
        </p:nvSpPr>
        <p:spPr>
          <a:xfrm>
            <a:off x="9098280" y="4160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the targeting signal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21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03 — FEATURE ENGINEERING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2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3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19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1" name="Image 0" descr="/home/claude/icons/cpu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482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04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[ 04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FOUR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Modeling Approach — T-Learner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Two independent response models and one subtraction — the simplest architecture that estimates heterogeneous treatment effects.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4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ARCHITECTURE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T-learner: two models, one subtraction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640080" y="17830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A T-learner trains two entirely independent XGBoost classifiers — one fit only on treated accounts, one fit only on control accounts — then estimates each test account’s ITE as the gap between their two predicted renewal probabilities.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640080" y="2606040"/>
            <a:ext cx="2468520" cy="3382920"/>
          </a:xfrm>
          <a:prstGeom prst="roundRect">
            <a:avLst>
              <a:gd name="adj" fmla="val 185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4"/>
          <p:cNvSpPr/>
          <p:nvPr/>
        </p:nvSpPr>
        <p:spPr>
          <a:xfrm>
            <a:off x="868680" y="28346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3" name="Image 0" descr="/home/claude/icons/layers_cream.png"/>
          <p:cNvPicPr/>
          <p:nvPr/>
        </p:nvPicPr>
        <p:blipFill>
          <a:blip r:embed="rId1"/>
          <a:stretch/>
        </p:blipFill>
        <p:spPr>
          <a:xfrm>
            <a:off x="934200" y="29001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94" name="Text 5"/>
          <p:cNvSpPr/>
          <p:nvPr/>
        </p:nvSpPr>
        <p:spPr>
          <a:xfrm>
            <a:off x="868680" y="3474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Test account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6"/>
          <p:cNvSpPr/>
          <p:nvPr/>
        </p:nvSpPr>
        <p:spPr>
          <a:xfrm>
            <a:off x="868680" y="379476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10-feature vector, scored through both models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3429000" y="2606040"/>
            <a:ext cx="2834280" cy="1416960"/>
          </a:xfrm>
          <a:prstGeom prst="roundRect">
            <a:avLst>
              <a:gd name="adj" fmla="val 3226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8"/>
          <p:cNvSpPr/>
          <p:nvPr/>
        </p:nvSpPr>
        <p:spPr>
          <a:xfrm>
            <a:off x="3657600" y="2834640"/>
            <a:ext cx="127800" cy="1278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3886200" y="278892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model_treated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10"/>
          <p:cNvSpPr/>
          <p:nvPr/>
        </p:nvSpPr>
        <p:spPr>
          <a:xfrm>
            <a:off x="3657600" y="310896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XGBClassifier fit on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treated accounts only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11"/>
          <p:cNvSpPr/>
          <p:nvPr/>
        </p:nvSpPr>
        <p:spPr>
          <a:xfrm>
            <a:off x="3657600" y="36118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1e8"/>
                </a:solidFill>
                <a:latin typeface="Courier New"/>
                <a:ea typeface="Courier New"/>
              </a:rPr>
              <a:t>→ </a:t>
            </a:r>
            <a:r>
              <a:rPr b="0" lang="en-US" sz="1000" spc="-1" strike="noStrike">
                <a:solidFill>
                  <a:srgbClr val="f4f1e8"/>
                </a:solidFill>
                <a:latin typeface="Courier New"/>
                <a:ea typeface="Courier New"/>
              </a:rPr>
              <a:t>p_treated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12"/>
          <p:cNvSpPr/>
          <p:nvPr/>
        </p:nvSpPr>
        <p:spPr>
          <a:xfrm>
            <a:off x="3429000" y="4251960"/>
            <a:ext cx="2834280" cy="1416960"/>
          </a:xfrm>
          <a:prstGeom prst="roundRect">
            <a:avLst>
              <a:gd name="adj" fmla="val 3226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13"/>
          <p:cNvSpPr/>
          <p:nvPr/>
        </p:nvSpPr>
        <p:spPr>
          <a:xfrm>
            <a:off x="3657600" y="4480560"/>
            <a:ext cx="127800" cy="12780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14"/>
          <p:cNvSpPr/>
          <p:nvPr/>
        </p:nvSpPr>
        <p:spPr>
          <a:xfrm>
            <a:off x="3886200" y="44348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7a5c"/>
                </a:solidFill>
                <a:latin typeface="Courier New"/>
                <a:ea typeface="Courier New"/>
              </a:rPr>
              <a:t>model_control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5"/>
          <p:cNvSpPr/>
          <p:nvPr/>
        </p:nvSpPr>
        <p:spPr>
          <a:xfrm>
            <a:off x="3657600" y="475488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XGBClassifier fit on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control accounts only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16"/>
          <p:cNvSpPr/>
          <p:nvPr/>
        </p:nvSpPr>
        <p:spPr>
          <a:xfrm>
            <a:off x="3657600" y="52578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1e8"/>
                </a:solidFill>
                <a:latin typeface="Courier New"/>
                <a:ea typeface="Courier New"/>
              </a:rPr>
              <a:t>→ </a:t>
            </a:r>
            <a:r>
              <a:rPr b="0" lang="en-US" sz="1000" spc="-1" strike="noStrike">
                <a:solidFill>
                  <a:srgbClr val="f4f1e8"/>
                </a:solidFill>
                <a:latin typeface="Courier New"/>
                <a:ea typeface="Courier New"/>
              </a:rPr>
              <a:t>p_control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17"/>
          <p:cNvSpPr/>
          <p:nvPr/>
        </p:nvSpPr>
        <p:spPr>
          <a:xfrm>
            <a:off x="6492240" y="41148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f2b84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Image 1" descr="/home/claude/icons/minus_ink.png"/>
          <p:cNvPicPr/>
          <p:nvPr/>
        </p:nvPicPr>
        <p:blipFill>
          <a:blip r:embed="rId2"/>
          <a:stretch/>
        </p:blipFill>
        <p:spPr>
          <a:xfrm>
            <a:off x="6542280" y="4164840"/>
            <a:ext cx="283680" cy="283680"/>
          </a:xfrm>
          <a:prstGeom prst="rect">
            <a:avLst/>
          </a:prstGeom>
          <a:ln w="0">
            <a:noFill/>
          </a:ln>
        </p:spPr>
      </p:pic>
      <p:sp>
        <p:nvSpPr>
          <p:cNvPr id="508" name="Shape 18"/>
          <p:cNvSpPr/>
          <p:nvPr/>
        </p:nvSpPr>
        <p:spPr>
          <a:xfrm>
            <a:off x="7178040" y="3291840"/>
            <a:ext cx="1965600" cy="1554120"/>
          </a:xfrm>
          <a:prstGeom prst="roundRect">
            <a:avLst>
              <a:gd name="adj" fmla="val 294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19"/>
          <p:cNvSpPr/>
          <p:nvPr/>
        </p:nvSpPr>
        <p:spPr>
          <a:xfrm>
            <a:off x="7360920" y="3520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4f1e8"/>
                </a:solidFill>
                <a:latin typeface="Courier New"/>
                <a:ea typeface="Courier New"/>
              </a:rPr>
              <a:t>predicted_ite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0"/>
          <p:cNvSpPr/>
          <p:nvPr/>
        </p:nvSpPr>
        <p:spPr>
          <a:xfrm>
            <a:off x="7360920" y="384048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= p_treated − p_control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21"/>
          <p:cNvSpPr/>
          <p:nvPr/>
        </p:nvSpPr>
        <p:spPr>
          <a:xfrm>
            <a:off x="7360920" y="448056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47e89"/>
                </a:solidFill>
                <a:latin typeface="Calibri"/>
                <a:ea typeface="Calibri"/>
              </a:rPr>
              <a:t>the targeting score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9464040" y="2606040"/>
            <a:ext cx="2057040" cy="3382920"/>
          </a:xfrm>
          <a:prstGeom prst="roundRect">
            <a:avLst>
              <a:gd name="adj" fmla="val 222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23"/>
          <p:cNvSpPr/>
          <p:nvPr/>
        </p:nvSpPr>
        <p:spPr>
          <a:xfrm>
            <a:off x="9646920" y="27889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2b84b"/>
                </a:solidFill>
                <a:latin typeface="Courier New"/>
                <a:ea typeface="Courier New"/>
              </a:rPr>
              <a:t>Why "T"-learner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24"/>
          <p:cNvSpPr/>
          <p:nvPr/>
        </p:nvSpPr>
        <p:spPr>
          <a:xfrm>
            <a:off x="9646920" y="3291840"/>
            <a:ext cx="17370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db4bd"/>
                </a:solidFill>
                <a:latin typeface="Calibri"/>
                <a:ea typeface="Calibri"/>
              </a:rPr>
              <a:t>Two separate models — the simplest of the standard meta-learner family (S, T, X, R-learners).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25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04 — MODELING APPROACH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26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27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21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MODEL CONFIGURATION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Identical configuration, two independent fits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2"/>
          <p:cNvSpPr/>
          <p:nvPr/>
        </p:nvSpPr>
        <p:spPr>
          <a:xfrm>
            <a:off x="640080" y="178308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Both response models share one hyperparameter configuration — a shallow, conservative XGBoost setup, slightly gentler than a typical single-outcome classifier to resist overfitting on the smaller control-only training slice.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640080" y="246888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4"/>
          <p:cNvSpPr/>
          <p:nvPr/>
        </p:nvSpPr>
        <p:spPr>
          <a:xfrm>
            <a:off x="822960" y="254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n_estimators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5"/>
          <p:cNvSpPr/>
          <p:nvPr/>
        </p:nvSpPr>
        <p:spPr>
          <a:xfrm>
            <a:off x="822960" y="2871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Boosting rounds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6"/>
          <p:cNvSpPr/>
          <p:nvPr/>
        </p:nvSpPr>
        <p:spPr>
          <a:xfrm>
            <a:off x="3337560" y="246888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250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7"/>
          <p:cNvSpPr/>
          <p:nvPr/>
        </p:nvSpPr>
        <p:spPr>
          <a:xfrm>
            <a:off x="640080" y="336492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8"/>
          <p:cNvSpPr/>
          <p:nvPr/>
        </p:nvSpPr>
        <p:spPr>
          <a:xfrm>
            <a:off x="822960" y="34380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max_depth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9"/>
          <p:cNvSpPr/>
          <p:nvPr/>
        </p:nvSpPr>
        <p:spPr>
          <a:xfrm>
            <a:off x="822960" y="3767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Shallow trees — controls overfitting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10"/>
          <p:cNvSpPr/>
          <p:nvPr/>
        </p:nvSpPr>
        <p:spPr>
          <a:xfrm>
            <a:off x="3337560" y="336492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4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11"/>
          <p:cNvSpPr/>
          <p:nvPr/>
        </p:nvSpPr>
        <p:spPr>
          <a:xfrm>
            <a:off x="640080" y="426096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2"/>
          <p:cNvSpPr/>
          <p:nvPr/>
        </p:nvSpPr>
        <p:spPr>
          <a:xfrm>
            <a:off x="822960" y="4334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learning_rate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13"/>
          <p:cNvSpPr/>
          <p:nvPr/>
        </p:nvSpPr>
        <p:spPr>
          <a:xfrm>
            <a:off x="822960" y="4663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Gentler shrinkage than a single-outcome model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14"/>
          <p:cNvSpPr/>
          <p:nvPr/>
        </p:nvSpPr>
        <p:spPr>
          <a:xfrm>
            <a:off x="3337560" y="426096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0.06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15"/>
          <p:cNvSpPr/>
          <p:nvPr/>
        </p:nvSpPr>
        <p:spPr>
          <a:xfrm>
            <a:off x="640080" y="515736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16"/>
          <p:cNvSpPr/>
          <p:nvPr/>
        </p:nvSpPr>
        <p:spPr>
          <a:xfrm>
            <a:off x="822960" y="5230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subsample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7"/>
          <p:cNvSpPr/>
          <p:nvPr/>
        </p:nvSpPr>
        <p:spPr>
          <a:xfrm>
            <a:off x="822960" y="55594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Row sampling per tree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18"/>
          <p:cNvSpPr/>
          <p:nvPr/>
        </p:nvSpPr>
        <p:spPr>
          <a:xfrm>
            <a:off x="3337560" y="515736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0.85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19"/>
          <p:cNvSpPr/>
          <p:nvPr/>
        </p:nvSpPr>
        <p:spPr>
          <a:xfrm>
            <a:off x="6263640" y="246888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20"/>
          <p:cNvSpPr/>
          <p:nvPr/>
        </p:nvSpPr>
        <p:spPr>
          <a:xfrm>
            <a:off x="6446520" y="254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colsample_bytree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1"/>
          <p:cNvSpPr/>
          <p:nvPr/>
        </p:nvSpPr>
        <p:spPr>
          <a:xfrm>
            <a:off x="6446520" y="2871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Column sampling per tree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22"/>
          <p:cNvSpPr/>
          <p:nvPr/>
        </p:nvSpPr>
        <p:spPr>
          <a:xfrm>
            <a:off x="8961120" y="246888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0.85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23"/>
          <p:cNvSpPr/>
          <p:nvPr/>
        </p:nvSpPr>
        <p:spPr>
          <a:xfrm>
            <a:off x="6263640" y="336492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24"/>
          <p:cNvSpPr/>
          <p:nvPr/>
        </p:nvSpPr>
        <p:spPr>
          <a:xfrm>
            <a:off x="6446520" y="34380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objective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25"/>
          <p:cNvSpPr/>
          <p:nvPr/>
        </p:nvSpPr>
        <p:spPr>
          <a:xfrm>
            <a:off x="6446520" y="3767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Calibrated probability output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26"/>
          <p:cNvSpPr/>
          <p:nvPr/>
        </p:nvSpPr>
        <p:spPr>
          <a:xfrm>
            <a:off x="8961120" y="336492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7dd6b"/>
                </a:solidFill>
                <a:latin typeface="Courier New"/>
                <a:ea typeface="Courier New"/>
              </a:rPr>
              <a:t>binary:logistic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27"/>
          <p:cNvSpPr/>
          <p:nvPr/>
        </p:nvSpPr>
        <p:spPr>
          <a:xfrm>
            <a:off x="6263640" y="426096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28"/>
          <p:cNvSpPr/>
          <p:nvPr/>
        </p:nvSpPr>
        <p:spPr>
          <a:xfrm>
            <a:off x="6446520" y="4334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eval_metric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29"/>
          <p:cNvSpPr/>
          <p:nvPr/>
        </p:nvSpPr>
        <p:spPr>
          <a:xfrm>
            <a:off x="6446520" y="4663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Matches internal validation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30"/>
          <p:cNvSpPr/>
          <p:nvPr/>
        </p:nvSpPr>
        <p:spPr>
          <a:xfrm>
            <a:off x="8961120" y="426096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auc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31"/>
          <p:cNvSpPr/>
          <p:nvPr/>
        </p:nvSpPr>
        <p:spPr>
          <a:xfrm>
            <a:off x="6263640" y="5157360"/>
            <a:ext cx="5440320" cy="776880"/>
          </a:xfrm>
          <a:prstGeom prst="rect">
            <a:avLst/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32"/>
          <p:cNvSpPr/>
          <p:nvPr/>
        </p:nvSpPr>
        <p:spPr>
          <a:xfrm>
            <a:off x="6446520" y="5230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4f1e8"/>
                </a:solidFill>
                <a:latin typeface="Courier New"/>
                <a:ea typeface="Courier New"/>
              </a:rPr>
              <a:t>random_state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33"/>
          <p:cNvSpPr/>
          <p:nvPr/>
        </p:nvSpPr>
        <p:spPr>
          <a:xfrm>
            <a:off x="6446520" y="55594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47e89"/>
                </a:solidFill>
                <a:latin typeface="Calibri"/>
                <a:ea typeface="Calibri"/>
              </a:rPr>
              <a:t>Reproducibility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34"/>
          <p:cNvSpPr/>
          <p:nvPr/>
        </p:nvSpPr>
        <p:spPr>
          <a:xfrm>
            <a:off x="8961120" y="515736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42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35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04 — MODELING APPROACH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36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37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22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MODEL SELECTION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Why a T-learner, and where it strains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2"/>
          <p:cNvSpPr/>
          <p:nvPr/>
        </p:nvSpPr>
        <p:spPr>
          <a:xfrm>
            <a:off x="640080" y="1783080"/>
            <a:ext cx="5257440" cy="1965600"/>
          </a:xfrm>
          <a:prstGeom prst="roundRect">
            <a:avLst>
              <a:gd name="adj" fmla="val 23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3"/>
          <p:cNvSpPr/>
          <p:nvPr/>
        </p:nvSpPr>
        <p:spPr>
          <a:xfrm>
            <a:off x="84132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0" name="Image 0" descr="/home/claude/icons/grid_acid.png"/>
          <p:cNvPicPr/>
          <p:nvPr/>
        </p:nvPicPr>
        <p:blipFill>
          <a:blip r:embed="rId1"/>
          <a:stretch/>
        </p:blipFill>
        <p:spPr>
          <a:xfrm>
            <a:off x="90072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561" name="Text 4"/>
          <p:cNvSpPr/>
          <p:nvPr/>
        </p:nvSpPr>
        <p:spPr>
          <a:xfrm>
            <a:off x="841320" y="256932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Simple to reason about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841320" y="2935080"/>
            <a:ext cx="4854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Each response surface is an ordinary binary classifier — no custom loss function, easy to debug and explain to stakeholders.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6"/>
          <p:cNvSpPr/>
          <p:nvPr/>
        </p:nvSpPr>
        <p:spPr>
          <a:xfrm>
            <a:off x="6080760" y="1783080"/>
            <a:ext cx="5257440" cy="1965600"/>
          </a:xfrm>
          <a:prstGeom prst="roundRect">
            <a:avLst>
              <a:gd name="adj" fmla="val 23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628200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5" name="Image 1" descr="/home/claude/icons/gitcompare_acid.png"/>
          <p:cNvPicPr/>
          <p:nvPr/>
        </p:nvPicPr>
        <p:blipFill>
          <a:blip r:embed="rId2"/>
          <a:stretch/>
        </p:blipFill>
        <p:spPr>
          <a:xfrm>
            <a:off x="634140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566" name="Text 8"/>
          <p:cNvSpPr/>
          <p:nvPr/>
        </p:nvSpPr>
        <p:spPr>
          <a:xfrm>
            <a:off x="6282000" y="256932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Clean separation of concerns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6282000" y="2935080"/>
            <a:ext cx="4854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treated and control models can be validated, tuned, and even swapped independently of one another.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640080" y="3931920"/>
            <a:ext cx="5257440" cy="1965600"/>
          </a:xfrm>
          <a:prstGeom prst="roundRect">
            <a:avLst>
              <a:gd name="adj" fmla="val 23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841320" y="41331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2" descr="/home/claude/icons/warning_amber.png"/>
          <p:cNvPicPr/>
          <p:nvPr/>
        </p:nvPicPr>
        <p:blipFill>
          <a:blip r:embed="rId3"/>
          <a:stretch/>
        </p:blipFill>
        <p:spPr>
          <a:xfrm>
            <a:off x="900720" y="41925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571" name="Text 12"/>
          <p:cNvSpPr/>
          <p:nvPr/>
        </p:nvSpPr>
        <p:spPr>
          <a:xfrm>
            <a:off x="841320" y="471816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A real limitation: regularization bias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3"/>
          <p:cNvSpPr/>
          <p:nvPr/>
        </p:nvSpPr>
        <p:spPr>
          <a:xfrm>
            <a:off x="841320" y="5083920"/>
            <a:ext cx="4854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When treated (80%) and control (20%) base rates differ this much, each model can systematically over- or under-shrink its predictions.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4"/>
          <p:cNvSpPr/>
          <p:nvPr/>
        </p:nvSpPr>
        <p:spPr>
          <a:xfrm>
            <a:off x="6080760" y="3931920"/>
            <a:ext cx="5257440" cy="1965600"/>
          </a:xfrm>
          <a:prstGeom prst="roundRect">
            <a:avLst>
              <a:gd name="adj" fmla="val 232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5"/>
          <p:cNvSpPr/>
          <p:nvPr/>
        </p:nvSpPr>
        <p:spPr>
          <a:xfrm>
            <a:off x="6282000" y="41331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5" name="Image 3" descr="/home/claude/icons/sliders_amber.png"/>
          <p:cNvPicPr/>
          <p:nvPr/>
        </p:nvPicPr>
        <p:blipFill>
          <a:blip r:embed="rId4"/>
          <a:stretch/>
        </p:blipFill>
        <p:spPr>
          <a:xfrm>
            <a:off x="6341400" y="41925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576" name="Text 16"/>
          <p:cNvSpPr/>
          <p:nvPr/>
        </p:nvSpPr>
        <p:spPr>
          <a:xfrm>
            <a:off x="6282000" y="471816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The disclosed upgrade path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6282000" y="5083920"/>
            <a:ext cx="4854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EXTENDING.md proposes replacing this with EconML’s CausalForestDML — confidence-interval-aware and less sensitive to the imbalance above.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1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04 — MODELING APPROACH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1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2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23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MODEL INTERPRETABILITY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two response surfaces value features differently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 2"/>
          <p:cNvSpPr/>
          <p:nvPr/>
        </p:nvSpPr>
        <p:spPr>
          <a:xfrm>
            <a:off x="640080" y="17830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db4bd"/>
                </a:solidFill>
                <a:latin typeface="Calibri"/>
                <a:ea typeface="Calibri"/>
              </a:rPr>
              <a:t>This divergence is exactly what a T-learner is built to exploit — usage_trend_30d matters roughly 1.5× more for predicting renewal among treated accounts than among control accounts, which is itself a signature of heterogeneous treatment effect.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3"/>
          <p:cNvSpPr/>
          <p:nvPr/>
        </p:nvSpPr>
        <p:spPr>
          <a:xfrm>
            <a:off x="640080" y="2560320"/>
            <a:ext cx="5257440" cy="3748680"/>
          </a:xfrm>
          <a:prstGeom prst="roundRect">
            <a:avLst>
              <a:gd name="adj" fmla="val 1220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4"/>
          <p:cNvSpPr/>
          <p:nvPr/>
        </p:nvSpPr>
        <p:spPr>
          <a:xfrm>
            <a:off x="868680" y="2797920"/>
            <a:ext cx="127800" cy="1278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5"/>
          <p:cNvSpPr/>
          <p:nvPr/>
        </p:nvSpPr>
        <p:spPr>
          <a:xfrm>
            <a:off x="1097280" y="274320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b7dd6b"/>
                </a:solidFill>
                <a:latin typeface="Courier New"/>
                <a:ea typeface="Courier New"/>
              </a:rPr>
              <a:t>model_treated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6"/>
          <p:cNvSpPr/>
          <p:nvPr/>
        </p:nvSpPr>
        <p:spPr>
          <a:xfrm>
            <a:off x="868680" y="32004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usage_trend_30d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7"/>
          <p:cNvSpPr/>
          <p:nvPr/>
        </p:nvSpPr>
        <p:spPr>
          <a:xfrm>
            <a:off x="2834640" y="3273480"/>
            <a:ext cx="2149920" cy="219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8"/>
          <p:cNvSpPr/>
          <p:nvPr/>
        </p:nvSpPr>
        <p:spPr>
          <a:xfrm>
            <a:off x="5058000" y="32004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0.301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9"/>
          <p:cNvSpPr/>
          <p:nvPr/>
        </p:nvSpPr>
        <p:spPr>
          <a:xfrm>
            <a:off x="868680" y="3749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prior_discount_count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0"/>
          <p:cNvSpPr/>
          <p:nvPr/>
        </p:nvSpPr>
        <p:spPr>
          <a:xfrm>
            <a:off x="2834640" y="3822120"/>
            <a:ext cx="721080" cy="219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1"/>
          <p:cNvSpPr/>
          <p:nvPr/>
        </p:nvSpPr>
        <p:spPr>
          <a:xfrm>
            <a:off x="3629160" y="374904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0.101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12"/>
          <p:cNvSpPr/>
          <p:nvPr/>
        </p:nvSpPr>
        <p:spPr>
          <a:xfrm>
            <a:off x="868680" y="42976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feature_adoption_breadth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3"/>
          <p:cNvSpPr/>
          <p:nvPr/>
        </p:nvSpPr>
        <p:spPr>
          <a:xfrm>
            <a:off x="2834640" y="4370760"/>
            <a:ext cx="692640" cy="219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3600720" y="42976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0.097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5"/>
          <p:cNvSpPr/>
          <p:nvPr/>
        </p:nvSpPr>
        <p:spPr>
          <a:xfrm>
            <a:off x="86868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tenure_months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16"/>
          <p:cNvSpPr/>
          <p:nvPr/>
        </p:nvSpPr>
        <p:spPr>
          <a:xfrm>
            <a:off x="2834640" y="4919400"/>
            <a:ext cx="678240" cy="219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17"/>
          <p:cNvSpPr/>
          <p:nvPr/>
        </p:nvSpPr>
        <p:spPr>
          <a:xfrm>
            <a:off x="3586320" y="484632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0.095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18"/>
          <p:cNvSpPr/>
          <p:nvPr/>
        </p:nvSpPr>
        <p:spPr>
          <a:xfrm>
            <a:off x="868680" y="53949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nps_score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9"/>
          <p:cNvSpPr/>
          <p:nvPr/>
        </p:nvSpPr>
        <p:spPr>
          <a:xfrm>
            <a:off x="2834640" y="5468040"/>
            <a:ext cx="649800" cy="219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20"/>
          <p:cNvSpPr/>
          <p:nvPr/>
        </p:nvSpPr>
        <p:spPr>
          <a:xfrm>
            <a:off x="3557880" y="53949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0.091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1"/>
          <p:cNvSpPr/>
          <p:nvPr/>
        </p:nvSpPr>
        <p:spPr>
          <a:xfrm>
            <a:off x="6263640" y="2560320"/>
            <a:ext cx="5257440" cy="3748680"/>
          </a:xfrm>
          <a:prstGeom prst="roundRect">
            <a:avLst>
              <a:gd name="adj" fmla="val 1220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22"/>
          <p:cNvSpPr/>
          <p:nvPr/>
        </p:nvSpPr>
        <p:spPr>
          <a:xfrm>
            <a:off x="6492240" y="2797920"/>
            <a:ext cx="127800" cy="12780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3"/>
          <p:cNvSpPr/>
          <p:nvPr/>
        </p:nvSpPr>
        <p:spPr>
          <a:xfrm>
            <a:off x="6720840" y="274320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7a5c"/>
                </a:solidFill>
                <a:latin typeface="Courier New"/>
                <a:ea typeface="Courier New"/>
              </a:rPr>
              <a:t>model_control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24"/>
          <p:cNvSpPr/>
          <p:nvPr/>
        </p:nvSpPr>
        <p:spPr>
          <a:xfrm>
            <a:off x="6492240" y="32004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usage_trend_30d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25"/>
          <p:cNvSpPr/>
          <p:nvPr/>
        </p:nvSpPr>
        <p:spPr>
          <a:xfrm>
            <a:off x="8458200" y="3273480"/>
            <a:ext cx="1378440" cy="2192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26"/>
          <p:cNvSpPr/>
          <p:nvPr/>
        </p:nvSpPr>
        <p:spPr>
          <a:xfrm>
            <a:off x="9910080" y="32004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0.193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7"/>
          <p:cNvSpPr/>
          <p:nvPr/>
        </p:nvSpPr>
        <p:spPr>
          <a:xfrm>
            <a:off x="6492240" y="3749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feature_adoption_breadth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28"/>
          <p:cNvSpPr/>
          <p:nvPr/>
        </p:nvSpPr>
        <p:spPr>
          <a:xfrm>
            <a:off x="8458200" y="3822120"/>
            <a:ext cx="728280" cy="2192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29"/>
          <p:cNvSpPr/>
          <p:nvPr/>
        </p:nvSpPr>
        <p:spPr>
          <a:xfrm>
            <a:off x="9259920" y="374904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0.102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30"/>
          <p:cNvSpPr/>
          <p:nvPr/>
        </p:nvSpPr>
        <p:spPr>
          <a:xfrm>
            <a:off x="6492240" y="42976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nps_score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31"/>
          <p:cNvSpPr/>
          <p:nvPr/>
        </p:nvSpPr>
        <p:spPr>
          <a:xfrm>
            <a:off x="8458200" y="4370760"/>
            <a:ext cx="713880" cy="2192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32"/>
          <p:cNvSpPr/>
          <p:nvPr/>
        </p:nvSpPr>
        <p:spPr>
          <a:xfrm>
            <a:off x="9245880" y="42976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0.100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33"/>
          <p:cNvSpPr/>
          <p:nvPr/>
        </p:nvSpPr>
        <p:spPr>
          <a:xfrm>
            <a:off x="649224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support_tickets_90d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4"/>
          <p:cNvSpPr/>
          <p:nvPr/>
        </p:nvSpPr>
        <p:spPr>
          <a:xfrm>
            <a:off x="8458200" y="4919400"/>
            <a:ext cx="678240" cy="2192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35"/>
          <p:cNvSpPr/>
          <p:nvPr/>
        </p:nvSpPr>
        <p:spPr>
          <a:xfrm>
            <a:off x="9209880" y="484632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0.095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36"/>
          <p:cNvSpPr/>
          <p:nvPr/>
        </p:nvSpPr>
        <p:spPr>
          <a:xfrm>
            <a:off x="6492240" y="53949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seat_utilization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37"/>
          <p:cNvSpPr/>
          <p:nvPr/>
        </p:nvSpPr>
        <p:spPr>
          <a:xfrm>
            <a:off x="8458200" y="5468040"/>
            <a:ext cx="628200" cy="2192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38"/>
          <p:cNvSpPr/>
          <p:nvPr/>
        </p:nvSpPr>
        <p:spPr>
          <a:xfrm>
            <a:off x="9159840" y="53949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f1e8"/>
                </a:solidFill>
                <a:latin typeface="Courier New"/>
                <a:ea typeface="Courier New"/>
              </a:rPr>
              <a:t>0.088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39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04 — MODELING APPROACH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40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41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24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9692640" y="0"/>
            <a:ext cx="2498760" cy="685764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1"/>
          <p:cNvSpPr/>
          <p:nvPr/>
        </p:nvSpPr>
        <p:spPr>
          <a:xfrm>
            <a:off x="640080" y="5029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WORKED EXAMPLE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640080" y="822960"/>
            <a:ext cx="8686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Reading a single account’s score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3"/>
          <p:cNvSpPr/>
          <p:nvPr/>
        </p:nvSpPr>
        <p:spPr>
          <a:xfrm>
            <a:off x="640080" y="1965960"/>
            <a:ext cx="8503560" cy="959760"/>
          </a:xfrm>
          <a:prstGeom prst="roundRect">
            <a:avLst>
              <a:gd name="adj" fmla="val 476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4"/>
          <p:cNvSpPr/>
          <p:nvPr/>
        </p:nvSpPr>
        <p:spPr>
          <a:xfrm>
            <a:off x="914400" y="20941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ourier New"/>
                <a:ea typeface="Courier New"/>
              </a:rPr>
              <a:t>p_treated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5"/>
          <p:cNvSpPr/>
          <p:nvPr/>
        </p:nvSpPr>
        <p:spPr>
          <a:xfrm>
            <a:off x="3017520" y="20574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b7dd6b"/>
                </a:solidFill>
                <a:latin typeface="Courier New"/>
                <a:ea typeface="Courier New"/>
              </a:rPr>
              <a:t>0.654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6"/>
          <p:cNvSpPr/>
          <p:nvPr/>
        </p:nvSpPr>
        <p:spPr>
          <a:xfrm>
            <a:off x="4572000" y="2112120"/>
            <a:ext cx="4434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Predicted renewal probability if this account is offered the discount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7"/>
          <p:cNvSpPr/>
          <p:nvPr/>
        </p:nvSpPr>
        <p:spPr>
          <a:xfrm>
            <a:off x="640080" y="3063240"/>
            <a:ext cx="8503560" cy="959760"/>
          </a:xfrm>
          <a:prstGeom prst="roundRect">
            <a:avLst>
              <a:gd name="adj" fmla="val 476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8"/>
          <p:cNvSpPr/>
          <p:nvPr/>
        </p:nvSpPr>
        <p:spPr>
          <a:xfrm>
            <a:off x="914400" y="31914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ourier New"/>
                <a:ea typeface="Courier New"/>
              </a:rPr>
              <a:t>p_control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9"/>
          <p:cNvSpPr/>
          <p:nvPr/>
        </p:nvSpPr>
        <p:spPr>
          <a:xfrm>
            <a:off x="3017520" y="31546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b7dd6b"/>
                </a:solidFill>
                <a:latin typeface="Courier New"/>
                <a:ea typeface="Courier New"/>
              </a:rPr>
              <a:t>0.800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10"/>
          <p:cNvSpPr/>
          <p:nvPr/>
        </p:nvSpPr>
        <p:spPr>
          <a:xfrm>
            <a:off x="4572000" y="3209400"/>
            <a:ext cx="4434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Predicted renewal probability if this account is NOT offered the discount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1"/>
          <p:cNvSpPr/>
          <p:nvPr/>
        </p:nvSpPr>
        <p:spPr>
          <a:xfrm>
            <a:off x="640080" y="4160520"/>
            <a:ext cx="8503560" cy="959760"/>
          </a:xfrm>
          <a:prstGeom prst="roundRect">
            <a:avLst>
              <a:gd name="adj" fmla="val 476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12"/>
          <p:cNvSpPr/>
          <p:nvPr/>
        </p:nvSpPr>
        <p:spPr>
          <a:xfrm>
            <a:off x="914400" y="4288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2b84b"/>
                </a:solidFill>
                <a:latin typeface="Courier New"/>
                <a:ea typeface="Courier New"/>
              </a:rPr>
              <a:t>predicted_ite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3"/>
          <p:cNvSpPr/>
          <p:nvPr/>
        </p:nvSpPr>
        <p:spPr>
          <a:xfrm>
            <a:off x="3017520" y="42519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2b84b"/>
                </a:solidFill>
                <a:latin typeface="Courier New"/>
                <a:ea typeface="Courier New"/>
              </a:rPr>
              <a:t>−</a:t>
            </a:r>
            <a:r>
              <a:rPr b="1" lang="en-US" sz="1700" spc="-1" strike="noStrike">
                <a:solidFill>
                  <a:srgbClr val="f2b84b"/>
                </a:solidFill>
                <a:latin typeface="Courier New"/>
                <a:ea typeface="Courier New"/>
              </a:rPr>
              <a:t>0.146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14"/>
          <p:cNvSpPr/>
          <p:nvPr/>
        </p:nvSpPr>
        <p:spPr>
          <a:xfrm>
            <a:off x="4572000" y="4306680"/>
            <a:ext cx="4434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db4bd"/>
                </a:solidFill>
                <a:latin typeface="Calibri"/>
                <a:ea typeface="Calibri"/>
              </a:rPr>
              <a:t>p_treated − p_control — this account is predicted worse off with a discount</a:t>
            </a:r>
            <a:endParaRPr b="0" lang="en-GB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15"/>
          <p:cNvSpPr/>
          <p:nvPr/>
        </p:nvSpPr>
        <p:spPr>
          <a:xfrm>
            <a:off x="640080" y="5349240"/>
            <a:ext cx="850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747e89"/>
                </a:solidFill>
                <a:latin typeface="Calibri"/>
                <a:ea typeface="Calibri"/>
              </a:rPr>
              <a:t>This is a real (illustrative) row from the scored test set — a persuadable-looking account by raw churn risk, but the model correctly flags it as already likely to renew, so a discount would be pure margin loss.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16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04 — MODELING APPROACH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17"/>
          <p:cNvSpPr/>
          <p:nvPr/>
        </p:nvSpPr>
        <p:spPr>
          <a:xfrm>
            <a:off x="8321040" y="65469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25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3" name="Image 0" descr="/home/claude/icons/gitcompare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644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05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[ 05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FIVE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Evaluation &amp; Validation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A synthetic ground truth lets this deck do something most uplift deployments never can: check the answer directly.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5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EVALUATION DESIGN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Three angles on one question: does targeting work?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2"/>
          <p:cNvSpPr/>
          <p:nvPr/>
        </p:nvSpPr>
        <p:spPr>
          <a:xfrm>
            <a:off x="640080" y="178308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No single metric captures uplift-model quality. This evaluation combines a ground-truth correlation check (only possible because the cohort is synthetic), the industry-standard Qini curve, and a direct business backtest.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3"/>
          <p:cNvSpPr/>
          <p:nvPr/>
        </p:nvSpPr>
        <p:spPr>
          <a:xfrm>
            <a:off x="640080" y="2514600"/>
            <a:ext cx="3501720" cy="3062880"/>
          </a:xfrm>
          <a:prstGeom prst="roundRect">
            <a:avLst>
              <a:gd name="adj" fmla="val 149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Shape 4"/>
          <p:cNvSpPr/>
          <p:nvPr/>
        </p:nvSpPr>
        <p:spPr>
          <a:xfrm>
            <a:off x="859680" y="273420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5" name="Image 0" descr="/home/claude/icons/gitcompare_acid.png"/>
          <p:cNvPicPr/>
          <p:nvPr/>
        </p:nvPicPr>
        <p:blipFill>
          <a:blip r:embed="rId1"/>
          <a:stretch/>
        </p:blipFill>
        <p:spPr>
          <a:xfrm>
            <a:off x="924840" y="27993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656" name="Text 5"/>
          <p:cNvSpPr/>
          <p:nvPr/>
        </p:nvSpPr>
        <p:spPr>
          <a:xfrm>
            <a:off x="859680" y="338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ITE-vs-truth correlation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6"/>
          <p:cNvSpPr/>
          <p:nvPr/>
        </p:nvSpPr>
        <p:spPr>
          <a:xfrm>
            <a:off x="859680" y="3931920"/>
            <a:ext cx="3062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Directly checks whether predicted uplift tracks the actual simulated effect — a validation that real deployments, lacking ground truth, cannot run.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4325040" y="2514600"/>
            <a:ext cx="3501720" cy="3062880"/>
          </a:xfrm>
          <a:prstGeom prst="roundRect">
            <a:avLst>
              <a:gd name="adj" fmla="val 149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Shape 8"/>
          <p:cNvSpPr/>
          <p:nvPr/>
        </p:nvSpPr>
        <p:spPr>
          <a:xfrm>
            <a:off x="4544640" y="273420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0" name="Image 1" descr="/home/claude/icons/target_amber.png"/>
          <p:cNvPicPr/>
          <p:nvPr/>
        </p:nvPicPr>
        <p:blipFill>
          <a:blip r:embed="rId2"/>
          <a:stretch/>
        </p:blipFill>
        <p:spPr>
          <a:xfrm>
            <a:off x="4609800" y="27993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661" name="Text 9"/>
          <p:cNvSpPr/>
          <p:nvPr/>
        </p:nvSpPr>
        <p:spPr>
          <a:xfrm>
            <a:off x="4544640" y="338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Qini coefficient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4544640" y="3931920"/>
            <a:ext cx="3062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standard uplift metric: area between the model’s targeting curve and random targeting. Threshold-free, rank-based, and comparable across models.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Shape 11"/>
          <p:cNvSpPr/>
          <p:nvPr/>
        </p:nvSpPr>
        <p:spPr>
          <a:xfrm>
            <a:off x="8010000" y="2514600"/>
            <a:ext cx="3501720" cy="3062880"/>
          </a:xfrm>
          <a:prstGeom prst="roundRect">
            <a:avLst>
              <a:gd name="adj" fmla="val 149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12"/>
          <p:cNvSpPr/>
          <p:nvPr/>
        </p:nvSpPr>
        <p:spPr>
          <a:xfrm>
            <a:off x="8229600" y="273420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5" name="Image 2" descr="/home/claude/icons/coins_coral.png"/>
          <p:cNvPicPr/>
          <p:nvPr/>
        </p:nvPicPr>
        <p:blipFill>
          <a:blip r:embed="rId3"/>
          <a:stretch/>
        </p:blipFill>
        <p:spPr>
          <a:xfrm>
            <a:off x="8295120" y="27993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666" name="Text 13"/>
          <p:cNvSpPr/>
          <p:nvPr/>
        </p:nvSpPr>
        <p:spPr>
          <a:xfrm>
            <a:off x="8229600" y="338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8"/>
                </a:solidFill>
                <a:latin typeface="Cambria"/>
                <a:ea typeface="Cambria"/>
              </a:rPr>
              <a:t>Discount-spend backtest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14"/>
          <p:cNvSpPr/>
          <p:nvPr/>
        </p:nvSpPr>
        <p:spPr>
          <a:xfrm>
            <a:off x="8229600" y="3931920"/>
            <a:ext cx="3062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Translates the ranking into a business number: how much spend is saved by targeting only the top-uplift segment, and how precise that segment is.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15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05 — EVALUATION &amp; VALIDATION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16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17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27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GROUND-TRUTH VALIDATION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Predicted uplift tracks the true effect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2"/>
          <p:cNvSpPr/>
          <p:nvPr/>
        </p:nvSpPr>
        <p:spPr>
          <a:xfrm>
            <a:off x="640080" y="1783080"/>
            <a:ext cx="6949080" cy="4297320"/>
          </a:xfrm>
          <a:prstGeom prst="roundRect">
            <a:avLst>
              <a:gd name="adj" fmla="val 1064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3"/>
          <p:cNvSpPr/>
          <p:nvPr/>
        </p:nvSpPr>
        <p:spPr>
          <a:xfrm>
            <a:off x="914400" y="19659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ourier New"/>
                <a:ea typeface="Courier New"/>
              </a:rPr>
              <a:t>n = 9,000  ·  correlation = 0.522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Shape 4"/>
          <p:cNvSpPr/>
          <p:nvPr/>
        </p:nvSpPr>
        <p:spPr>
          <a:xfrm>
            <a:off x="1234440" y="2377440"/>
            <a:ext cx="360" cy="33375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5"/>
          <p:cNvSpPr/>
          <p:nvPr/>
        </p:nvSpPr>
        <p:spPr>
          <a:xfrm>
            <a:off x="1234440" y="4309560"/>
            <a:ext cx="6035040" cy="360"/>
          </a:xfrm>
          <a:prstGeom prst="line">
            <a:avLst/>
          </a:prstGeom>
          <a:ln w="9525">
            <a:solidFill>
              <a:srgbClr val="333b4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6"/>
          <p:cNvSpPr/>
          <p:nvPr/>
        </p:nvSpPr>
        <p:spPr>
          <a:xfrm>
            <a:off x="1234440" y="5715000"/>
            <a:ext cx="603504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7"/>
          <p:cNvSpPr/>
          <p:nvPr/>
        </p:nvSpPr>
        <p:spPr>
          <a:xfrm flipV="1">
            <a:off x="1234440" y="3385440"/>
            <a:ext cx="6035040" cy="853920"/>
          </a:xfrm>
          <a:prstGeom prst="line">
            <a:avLst/>
          </a:prstGeom>
          <a:ln w="254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8"/>
          <p:cNvSpPr/>
          <p:nvPr/>
        </p:nvSpPr>
        <p:spPr>
          <a:xfrm>
            <a:off x="5106240" y="3430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9"/>
          <p:cNvSpPr/>
          <p:nvPr/>
        </p:nvSpPr>
        <p:spPr>
          <a:xfrm>
            <a:off x="5825160" y="3327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0"/>
          <p:cNvSpPr/>
          <p:nvPr/>
        </p:nvSpPr>
        <p:spPr>
          <a:xfrm>
            <a:off x="5099040" y="3978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11"/>
          <p:cNvSpPr/>
          <p:nvPr/>
        </p:nvSpPr>
        <p:spPr>
          <a:xfrm>
            <a:off x="1246320" y="4654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12"/>
          <p:cNvSpPr/>
          <p:nvPr/>
        </p:nvSpPr>
        <p:spPr>
          <a:xfrm>
            <a:off x="2383920" y="4132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13"/>
          <p:cNvSpPr/>
          <p:nvPr/>
        </p:nvSpPr>
        <p:spPr>
          <a:xfrm>
            <a:off x="6877440" y="3177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4"/>
          <p:cNvSpPr/>
          <p:nvPr/>
        </p:nvSpPr>
        <p:spPr>
          <a:xfrm>
            <a:off x="1587240" y="4749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5"/>
          <p:cNvSpPr/>
          <p:nvPr/>
        </p:nvSpPr>
        <p:spPr>
          <a:xfrm>
            <a:off x="1692000" y="41994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6"/>
          <p:cNvSpPr/>
          <p:nvPr/>
        </p:nvSpPr>
        <p:spPr>
          <a:xfrm>
            <a:off x="1454760" y="4093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7"/>
          <p:cNvSpPr/>
          <p:nvPr/>
        </p:nvSpPr>
        <p:spPr>
          <a:xfrm>
            <a:off x="5784120" y="3957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8"/>
          <p:cNvSpPr/>
          <p:nvPr/>
        </p:nvSpPr>
        <p:spPr>
          <a:xfrm>
            <a:off x="5742720" y="3268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9"/>
          <p:cNvSpPr/>
          <p:nvPr/>
        </p:nvSpPr>
        <p:spPr>
          <a:xfrm>
            <a:off x="3496680" y="4167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20"/>
          <p:cNvSpPr/>
          <p:nvPr/>
        </p:nvSpPr>
        <p:spPr>
          <a:xfrm>
            <a:off x="1599480" y="3033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21"/>
          <p:cNvSpPr/>
          <p:nvPr/>
        </p:nvSpPr>
        <p:spPr>
          <a:xfrm>
            <a:off x="7011360" y="3429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22"/>
          <p:cNvSpPr/>
          <p:nvPr/>
        </p:nvSpPr>
        <p:spPr>
          <a:xfrm>
            <a:off x="4624920" y="3350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23"/>
          <p:cNvSpPr/>
          <p:nvPr/>
        </p:nvSpPr>
        <p:spPr>
          <a:xfrm>
            <a:off x="3576600" y="4115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24"/>
          <p:cNvSpPr/>
          <p:nvPr/>
        </p:nvSpPr>
        <p:spPr>
          <a:xfrm>
            <a:off x="2140560" y="3357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5"/>
          <p:cNvSpPr/>
          <p:nvPr/>
        </p:nvSpPr>
        <p:spPr>
          <a:xfrm>
            <a:off x="3287880" y="4210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6"/>
          <p:cNvSpPr/>
          <p:nvPr/>
        </p:nvSpPr>
        <p:spPr>
          <a:xfrm>
            <a:off x="6657120" y="3102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7"/>
          <p:cNvSpPr/>
          <p:nvPr/>
        </p:nvSpPr>
        <p:spPr>
          <a:xfrm>
            <a:off x="3432960" y="3691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8"/>
          <p:cNvSpPr/>
          <p:nvPr/>
        </p:nvSpPr>
        <p:spPr>
          <a:xfrm>
            <a:off x="3409920" y="31896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9"/>
          <p:cNvSpPr/>
          <p:nvPr/>
        </p:nvSpPr>
        <p:spPr>
          <a:xfrm>
            <a:off x="1215360" y="4575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30"/>
          <p:cNvSpPr/>
          <p:nvPr/>
        </p:nvSpPr>
        <p:spPr>
          <a:xfrm>
            <a:off x="1723320" y="3745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31"/>
          <p:cNvSpPr/>
          <p:nvPr/>
        </p:nvSpPr>
        <p:spPr>
          <a:xfrm>
            <a:off x="1865160" y="3503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32"/>
          <p:cNvSpPr/>
          <p:nvPr/>
        </p:nvSpPr>
        <p:spPr>
          <a:xfrm>
            <a:off x="1686600" y="44355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33"/>
          <p:cNvSpPr/>
          <p:nvPr/>
        </p:nvSpPr>
        <p:spPr>
          <a:xfrm>
            <a:off x="2552400" y="4367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34"/>
          <p:cNvSpPr/>
          <p:nvPr/>
        </p:nvSpPr>
        <p:spPr>
          <a:xfrm>
            <a:off x="5209920" y="3972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35"/>
          <p:cNvSpPr/>
          <p:nvPr/>
        </p:nvSpPr>
        <p:spPr>
          <a:xfrm>
            <a:off x="2823840" y="3829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36"/>
          <p:cNvSpPr/>
          <p:nvPr/>
        </p:nvSpPr>
        <p:spPr>
          <a:xfrm>
            <a:off x="2190240" y="3244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37"/>
          <p:cNvSpPr/>
          <p:nvPr/>
        </p:nvSpPr>
        <p:spPr>
          <a:xfrm>
            <a:off x="3769200" y="3659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8"/>
          <p:cNvSpPr/>
          <p:nvPr/>
        </p:nvSpPr>
        <p:spPr>
          <a:xfrm>
            <a:off x="1348200" y="4245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9"/>
          <p:cNvSpPr/>
          <p:nvPr/>
        </p:nvSpPr>
        <p:spPr>
          <a:xfrm>
            <a:off x="1517400" y="4124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40"/>
          <p:cNvSpPr/>
          <p:nvPr/>
        </p:nvSpPr>
        <p:spPr>
          <a:xfrm>
            <a:off x="7108920" y="4108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41"/>
          <p:cNvSpPr/>
          <p:nvPr/>
        </p:nvSpPr>
        <p:spPr>
          <a:xfrm>
            <a:off x="6794640" y="3747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42"/>
          <p:cNvSpPr/>
          <p:nvPr/>
        </p:nvSpPr>
        <p:spPr>
          <a:xfrm>
            <a:off x="1393200" y="3722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43"/>
          <p:cNvSpPr/>
          <p:nvPr/>
        </p:nvSpPr>
        <p:spPr>
          <a:xfrm>
            <a:off x="2587680" y="4114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44"/>
          <p:cNvSpPr/>
          <p:nvPr/>
        </p:nvSpPr>
        <p:spPr>
          <a:xfrm>
            <a:off x="1375920" y="43866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45"/>
          <p:cNvSpPr/>
          <p:nvPr/>
        </p:nvSpPr>
        <p:spPr>
          <a:xfrm>
            <a:off x="6011280" y="3828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46"/>
          <p:cNvSpPr/>
          <p:nvPr/>
        </p:nvSpPr>
        <p:spPr>
          <a:xfrm>
            <a:off x="1488960" y="3623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47"/>
          <p:cNvSpPr/>
          <p:nvPr/>
        </p:nvSpPr>
        <p:spPr>
          <a:xfrm>
            <a:off x="2470320" y="3832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48"/>
          <p:cNvSpPr/>
          <p:nvPr/>
        </p:nvSpPr>
        <p:spPr>
          <a:xfrm>
            <a:off x="5379120" y="3625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49"/>
          <p:cNvSpPr/>
          <p:nvPr/>
        </p:nvSpPr>
        <p:spPr>
          <a:xfrm>
            <a:off x="2338560" y="3535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50"/>
          <p:cNvSpPr/>
          <p:nvPr/>
        </p:nvSpPr>
        <p:spPr>
          <a:xfrm>
            <a:off x="3067560" y="44226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51"/>
          <p:cNvSpPr/>
          <p:nvPr/>
        </p:nvSpPr>
        <p:spPr>
          <a:xfrm>
            <a:off x="1264320" y="3420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52"/>
          <p:cNvSpPr/>
          <p:nvPr/>
        </p:nvSpPr>
        <p:spPr>
          <a:xfrm>
            <a:off x="1290960" y="4902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53"/>
          <p:cNvSpPr/>
          <p:nvPr/>
        </p:nvSpPr>
        <p:spPr>
          <a:xfrm>
            <a:off x="1273320" y="3823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54"/>
          <p:cNvSpPr/>
          <p:nvPr/>
        </p:nvSpPr>
        <p:spPr>
          <a:xfrm>
            <a:off x="4533120" y="3773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55"/>
          <p:cNvSpPr/>
          <p:nvPr/>
        </p:nvSpPr>
        <p:spPr>
          <a:xfrm>
            <a:off x="2542680" y="3416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56"/>
          <p:cNvSpPr/>
          <p:nvPr/>
        </p:nvSpPr>
        <p:spPr>
          <a:xfrm>
            <a:off x="1252800" y="3985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57"/>
          <p:cNvSpPr/>
          <p:nvPr/>
        </p:nvSpPr>
        <p:spPr>
          <a:xfrm>
            <a:off x="1221840" y="4517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58"/>
          <p:cNvSpPr/>
          <p:nvPr/>
        </p:nvSpPr>
        <p:spPr>
          <a:xfrm>
            <a:off x="1696680" y="4204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59"/>
          <p:cNvSpPr/>
          <p:nvPr/>
        </p:nvSpPr>
        <p:spPr>
          <a:xfrm>
            <a:off x="2270160" y="4543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60"/>
          <p:cNvSpPr/>
          <p:nvPr/>
        </p:nvSpPr>
        <p:spPr>
          <a:xfrm>
            <a:off x="1603440" y="3757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61"/>
          <p:cNvSpPr/>
          <p:nvPr/>
        </p:nvSpPr>
        <p:spPr>
          <a:xfrm>
            <a:off x="1750320" y="4100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62"/>
          <p:cNvSpPr/>
          <p:nvPr/>
        </p:nvSpPr>
        <p:spPr>
          <a:xfrm>
            <a:off x="2893320" y="3595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63"/>
          <p:cNvSpPr/>
          <p:nvPr/>
        </p:nvSpPr>
        <p:spPr>
          <a:xfrm>
            <a:off x="1328400" y="3719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64"/>
          <p:cNvSpPr/>
          <p:nvPr/>
        </p:nvSpPr>
        <p:spPr>
          <a:xfrm>
            <a:off x="1243800" y="4328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65"/>
          <p:cNvSpPr/>
          <p:nvPr/>
        </p:nvSpPr>
        <p:spPr>
          <a:xfrm>
            <a:off x="6149160" y="3144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66"/>
          <p:cNvSpPr/>
          <p:nvPr/>
        </p:nvSpPr>
        <p:spPr>
          <a:xfrm>
            <a:off x="4214160" y="30474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67"/>
          <p:cNvSpPr/>
          <p:nvPr/>
        </p:nvSpPr>
        <p:spPr>
          <a:xfrm>
            <a:off x="5528160" y="3406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68"/>
          <p:cNvSpPr/>
          <p:nvPr/>
        </p:nvSpPr>
        <p:spPr>
          <a:xfrm>
            <a:off x="1522440" y="4178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69"/>
          <p:cNvSpPr/>
          <p:nvPr/>
        </p:nvSpPr>
        <p:spPr>
          <a:xfrm>
            <a:off x="1888560" y="3361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70"/>
          <p:cNvSpPr/>
          <p:nvPr/>
        </p:nvSpPr>
        <p:spPr>
          <a:xfrm>
            <a:off x="1414080" y="4542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71"/>
          <p:cNvSpPr/>
          <p:nvPr/>
        </p:nvSpPr>
        <p:spPr>
          <a:xfrm>
            <a:off x="2319120" y="3799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72"/>
          <p:cNvSpPr/>
          <p:nvPr/>
        </p:nvSpPr>
        <p:spPr>
          <a:xfrm>
            <a:off x="3139920" y="4070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73"/>
          <p:cNvSpPr/>
          <p:nvPr/>
        </p:nvSpPr>
        <p:spPr>
          <a:xfrm>
            <a:off x="3029760" y="4203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74"/>
          <p:cNvSpPr/>
          <p:nvPr/>
        </p:nvSpPr>
        <p:spPr>
          <a:xfrm>
            <a:off x="3417120" y="4188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75"/>
          <p:cNvSpPr/>
          <p:nvPr/>
        </p:nvSpPr>
        <p:spPr>
          <a:xfrm>
            <a:off x="1234440" y="3660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76"/>
          <p:cNvSpPr/>
          <p:nvPr/>
        </p:nvSpPr>
        <p:spPr>
          <a:xfrm>
            <a:off x="1984680" y="3818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77"/>
          <p:cNvSpPr/>
          <p:nvPr/>
        </p:nvSpPr>
        <p:spPr>
          <a:xfrm>
            <a:off x="1744200" y="3957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78"/>
          <p:cNvSpPr/>
          <p:nvPr/>
        </p:nvSpPr>
        <p:spPr>
          <a:xfrm>
            <a:off x="1671120" y="3381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79"/>
          <p:cNvSpPr/>
          <p:nvPr/>
        </p:nvSpPr>
        <p:spPr>
          <a:xfrm>
            <a:off x="1427400" y="4274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80"/>
          <p:cNvSpPr/>
          <p:nvPr/>
        </p:nvSpPr>
        <p:spPr>
          <a:xfrm>
            <a:off x="1233720" y="4812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81"/>
          <p:cNvSpPr/>
          <p:nvPr/>
        </p:nvSpPr>
        <p:spPr>
          <a:xfrm>
            <a:off x="3838680" y="3885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82"/>
          <p:cNvSpPr/>
          <p:nvPr/>
        </p:nvSpPr>
        <p:spPr>
          <a:xfrm>
            <a:off x="7123680" y="3901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83"/>
          <p:cNvSpPr/>
          <p:nvPr/>
        </p:nvSpPr>
        <p:spPr>
          <a:xfrm>
            <a:off x="1208880" y="4189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84"/>
          <p:cNvSpPr/>
          <p:nvPr/>
        </p:nvSpPr>
        <p:spPr>
          <a:xfrm>
            <a:off x="3088440" y="3575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85"/>
          <p:cNvSpPr/>
          <p:nvPr/>
        </p:nvSpPr>
        <p:spPr>
          <a:xfrm>
            <a:off x="4426200" y="3185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86"/>
          <p:cNvSpPr/>
          <p:nvPr/>
        </p:nvSpPr>
        <p:spPr>
          <a:xfrm>
            <a:off x="6202080" y="3128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87"/>
          <p:cNvSpPr/>
          <p:nvPr/>
        </p:nvSpPr>
        <p:spPr>
          <a:xfrm>
            <a:off x="3968280" y="3880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88"/>
          <p:cNvSpPr/>
          <p:nvPr/>
        </p:nvSpPr>
        <p:spPr>
          <a:xfrm>
            <a:off x="1728360" y="3837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89"/>
          <p:cNvSpPr/>
          <p:nvPr/>
        </p:nvSpPr>
        <p:spPr>
          <a:xfrm>
            <a:off x="5174280" y="3474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90"/>
          <p:cNvSpPr/>
          <p:nvPr/>
        </p:nvSpPr>
        <p:spPr>
          <a:xfrm>
            <a:off x="2807640" y="4485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91"/>
          <p:cNvSpPr/>
          <p:nvPr/>
        </p:nvSpPr>
        <p:spPr>
          <a:xfrm>
            <a:off x="2130840" y="4080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92"/>
          <p:cNvSpPr/>
          <p:nvPr/>
        </p:nvSpPr>
        <p:spPr>
          <a:xfrm>
            <a:off x="2309400" y="3857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93"/>
          <p:cNvSpPr/>
          <p:nvPr/>
        </p:nvSpPr>
        <p:spPr>
          <a:xfrm>
            <a:off x="6776640" y="38415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94"/>
          <p:cNvSpPr/>
          <p:nvPr/>
        </p:nvSpPr>
        <p:spPr>
          <a:xfrm>
            <a:off x="4087080" y="3482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95"/>
          <p:cNvSpPr/>
          <p:nvPr/>
        </p:nvSpPr>
        <p:spPr>
          <a:xfrm>
            <a:off x="1483560" y="46825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96"/>
          <p:cNvSpPr/>
          <p:nvPr/>
        </p:nvSpPr>
        <p:spPr>
          <a:xfrm>
            <a:off x="2114640" y="2989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97"/>
          <p:cNvSpPr/>
          <p:nvPr/>
        </p:nvSpPr>
        <p:spPr>
          <a:xfrm>
            <a:off x="6137280" y="3679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98"/>
          <p:cNvSpPr/>
          <p:nvPr/>
        </p:nvSpPr>
        <p:spPr>
          <a:xfrm>
            <a:off x="3086640" y="3445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99"/>
          <p:cNvSpPr/>
          <p:nvPr/>
        </p:nvSpPr>
        <p:spPr>
          <a:xfrm>
            <a:off x="2251800" y="4705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00"/>
          <p:cNvSpPr/>
          <p:nvPr/>
        </p:nvSpPr>
        <p:spPr>
          <a:xfrm>
            <a:off x="5426640" y="3762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01"/>
          <p:cNvSpPr/>
          <p:nvPr/>
        </p:nvSpPr>
        <p:spPr>
          <a:xfrm>
            <a:off x="1212840" y="3372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02"/>
          <p:cNvSpPr/>
          <p:nvPr/>
        </p:nvSpPr>
        <p:spPr>
          <a:xfrm>
            <a:off x="1449000" y="4128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03"/>
          <p:cNvSpPr/>
          <p:nvPr/>
        </p:nvSpPr>
        <p:spPr>
          <a:xfrm>
            <a:off x="1457640" y="4102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04"/>
          <p:cNvSpPr/>
          <p:nvPr/>
        </p:nvSpPr>
        <p:spPr>
          <a:xfrm>
            <a:off x="3755160" y="4146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05"/>
          <p:cNvSpPr/>
          <p:nvPr/>
        </p:nvSpPr>
        <p:spPr>
          <a:xfrm>
            <a:off x="1430640" y="43056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06"/>
          <p:cNvSpPr/>
          <p:nvPr/>
        </p:nvSpPr>
        <p:spPr>
          <a:xfrm>
            <a:off x="1470600" y="4528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07"/>
          <p:cNvSpPr/>
          <p:nvPr/>
        </p:nvSpPr>
        <p:spPr>
          <a:xfrm>
            <a:off x="1492200" y="4514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08"/>
          <p:cNvSpPr/>
          <p:nvPr/>
        </p:nvSpPr>
        <p:spPr>
          <a:xfrm>
            <a:off x="1929960" y="5516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09"/>
          <p:cNvSpPr/>
          <p:nvPr/>
        </p:nvSpPr>
        <p:spPr>
          <a:xfrm>
            <a:off x="2709000" y="4041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10"/>
          <p:cNvSpPr/>
          <p:nvPr/>
        </p:nvSpPr>
        <p:spPr>
          <a:xfrm>
            <a:off x="1471320" y="3933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11"/>
          <p:cNvSpPr/>
          <p:nvPr/>
        </p:nvSpPr>
        <p:spPr>
          <a:xfrm>
            <a:off x="1812600" y="4542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12"/>
          <p:cNvSpPr/>
          <p:nvPr/>
        </p:nvSpPr>
        <p:spPr>
          <a:xfrm>
            <a:off x="3488760" y="41245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13"/>
          <p:cNvSpPr/>
          <p:nvPr/>
        </p:nvSpPr>
        <p:spPr>
          <a:xfrm>
            <a:off x="7165800" y="3745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14"/>
          <p:cNvSpPr/>
          <p:nvPr/>
        </p:nvSpPr>
        <p:spPr>
          <a:xfrm>
            <a:off x="4005000" y="3951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115"/>
          <p:cNvSpPr/>
          <p:nvPr/>
        </p:nvSpPr>
        <p:spPr>
          <a:xfrm>
            <a:off x="2158200" y="3651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16"/>
          <p:cNvSpPr/>
          <p:nvPr/>
        </p:nvSpPr>
        <p:spPr>
          <a:xfrm>
            <a:off x="1901160" y="3786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117"/>
          <p:cNvSpPr/>
          <p:nvPr/>
        </p:nvSpPr>
        <p:spPr>
          <a:xfrm>
            <a:off x="3939120" y="3562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118"/>
          <p:cNvSpPr/>
          <p:nvPr/>
        </p:nvSpPr>
        <p:spPr>
          <a:xfrm>
            <a:off x="5574600" y="3980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119"/>
          <p:cNvSpPr/>
          <p:nvPr/>
        </p:nvSpPr>
        <p:spPr>
          <a:xfrm>
            <a:off x="1262520" y="3372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20"/>
          <p:cNvSpPr/>
          <p:nvPr/>
        </p:nvSpPr>
        <p:spPr>
          <a:xfrm>
            <a:off x="1307520" y="4427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121"/>
          <p:cNvSpPr/>
          <p:nvPr/>
        </p:nvSpPr>
        <p:spPr>
          <a:xfrm>
            <a:off x="1604520" y="3094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122"/>
          <p:cNvSpPr/>
          <p:nvPr/>
        </p:nvSpPr>
        <p:spPr>
          <a:xfrm>
            <a:off x="4984200" y="2984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23"/>
          <p:cNvSpPr/>
          <p:nvPr/>
        </p:nvSpPr>
        <p:spPr>
          <a:xfrm>
            <a:off x="2490840" y="3739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24"/>
          <p:cNvSpPr/>
          <p:nvPr/>
        </p:nvSpPr>
        <p:spPr>
          <a:xfrm>
            <a:off x="4503600" y="3479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125"/>
          <p:cNvSpPr/>
          <p:nvPr/>
        </p:nvSpPr>
        <p:spPr>
          <a:xfrm>
            <a:off x="1813680" y="3930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126"/>
          <p:cNvSpPr/>
          <p:nvPr/>
        </p:nvSpPr>
        <p:spPr>
          <a:xfrm>
            <a:off x="1217520" y="4147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127"/>
          <p:cNvSpPr/>
          <p:nvPr/>
        </p:nvSpPr>
        <p:spPr>
          <a:xfrm>
            <a:off x="1241280" y="48625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128"/>
          <p:cNvSpPr/>
          <p:nvPr/>
        </p:nvSpPr>
        <p:spPr>
          <a:xfrm>
            <a:off x="1710360" y="5026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129"/>
          <p:cNvSpPr/>
          <p:nvPr/>
        </p:nvSpPr>
        <p:spPr>
          <a:xfrm>
            <a:off x="2421720" y="4176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130"/>
          <p:cNvSpPr/>
          <p:nvPr/>
        </p:nvSpPr>
        <p:spPr>
          <a:xfrm>
            <a:off x="6318000" y="36385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131"/>
          <p:cNvSpPr/>
          <p:nvPr/>
        </p:nvSpPr>
        <p:spPr>
          <a:xfrm>
            <a:off x="3792240" y="3692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132"/>
          <p:cNvSpPr/>
          <p:nvPr/>
        </p:nvSpPr>
        <p:spPr>
          <a:xfrm>
            <a:off x="6215400" y="3492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133"/>
          <p:cNvSpPr/>
          <p:nvPr/>
        </p:nvSpPr>
        <p:spPr>
          <a:xfrm>
            <a:off x="6124320" y="38772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34"/>
          <p:cNvSpPr/>
          <p:nvPr/>
        </p:nvSpPr>
        <p:spPr>
          <a:xfrm>
            <a:off x="1299960" y="4415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35"/>
          <p:cNvSpPr/>
          <p:nvPr/>
        </p:nvSpPr>
        <p:spPr>
          <a:xfrm>
            <a:off x="1635120" y="4366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136"/>
          <p:cNvSpPr/>
          <p:nvPr/>
        </p:nvSpPr>
        <p:spPr>
          <a:xfrm>
            <a:off x="1703520" y="3701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37"/>
          <p:cNvSpPr/>
          <p:nvPr/>
        </p:nvSpPr>
        <p:spPr>
          <a:xfrm>
            <a:off x="1604880" y="3771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38"/>
          <p:cNvSpPr/>
          <p:nvPr/>
        </p:nvSpPr>
        <p:spPr>
          <a:xfrm>
            <a:off x="5075640" y="3235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39"/>
          <p:cNvSpPr/>
          <p:nvPr/>
        </p:nvSpPr>
        <p:spPr>
          <a:xfrm>
            <a:off x="3434040" y="4613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40"/>
          <p:cNvSpPr/>
          <p:nvPr/>
        </p:nvSpPr>
        <p:spPr>
          <a:xfrm>
            <a:off x="1222920" y="4684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41"/>
          <p:cNvSpPr/>
          <p:nvPr/>
        </p:nvSpPr>
        <p:spPr>
          <a:xfrm>
            <a:off x="1638720" y="3197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142"/>
          <p:cNvSpPr/>
          <p:nvPr/>
        </p:nvSpPr>
        <p:spPr>
          <a:xfrm>
            <a:off x="4146480" y="3999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143"/>
          <p:cNvSpPr/>
          <p:nvPr/>
        </p:nvSpPr>
        <p:spPr>
          <a:xfrm>
            <a:off x="6246000" y="3583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44"/>
          <p:cNvSpPr/>
          <p:nvPr/>
        </p:nvSpPr>
        <p:spPr>
          <a:xfrm>
            <a:off x="4625280" y="3363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45"/>
          <p:cNvSpPr/>
          <p:nvPr/>
        </p:nvSpPr>
        <p:spPr>
          <a:xfrm>
            <a:off x="1238040" y="3477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46"/>
          <p:cNvSpPr/>
          <p:nvPr/>
        </p:nvSpPr>
        <p:spPr>
          <a:xfrm>
            <a:off x="2423160" y="3845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47"/>
          <p:cNvSpPr/>
          <p:nvPr/>
        </p:nvSpPr>
        <p:spPr>
          <a:xfrm>
            <a:off x="1626120" y="3415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48"/>
          <p:cNvSpPr/>
          <p:nvPr/>
        </p:nvSpPr>
        <p:spPr>
          <a:xfrm>
            <a:off x="2027880" y="3609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49"/>
          <p:cNvSpPr/>
          <p:nvPr/>
        </p:nvSpPr>
        <p:spPr>
          <a:xfrm>
            <a:off x="1824480" y="4190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50"/>
          <p:cNvSpPr/>
          <p:nvPr/>
        </p:nvSpPr>
        <p:spPr>
          <a:xfrm>
            <a:off x="3042000" y="4244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51"/>
          <p:cNvSpPr/>
          <p:nvPr/>
        </p:nvSpPr>
        <p:spPr>
          <a:xfrm>
            <a:off x="6469200" y="2691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52"/>
          <p:cNvSpPr/>
          <p:nvPr/>
        </p:nvSpPr>
        <p:spPr>
          <a:xfrm>
            <a:off x="1498320" y="4257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53"/>
          <p:cNvSpPr/>
          <p:nvPr/>
        </p:nvSpPr>
        <p:spPr>
          <a:xfrm>
            <a:off x="2995200" y="3559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54"/>
          <p:cNvSpPr/>
          <p:nvPr/>
        </p:nvSpPr>
        <p:spPr>
          <a:xfrm>
            <a:off x="1894680" y="4267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55"/>
          <p:cNvSpPr/>
          <p:nvPr/>
        </p:nvSpPr>
        <p:spPr>
          <a:xfrm>
            <a:off x="1796400" y="3638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56"/>
          <p:cNvSpPr/>
          <p:nvPr/>
        </p:nvSpPr>
        <p:spPr>
          <a:xfrm>
            <a:off x="3374280" y="3770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57"/>
          <p:cNvSpPr/>
          <p:nvPr/>
        </p:nvSpPr>
        <p:spPr>
          <a:xfrm>
            <a:off x="1319760" y="4465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58"/>
          <p:cNvSpPr/>
          <p:nvPr/>
        </p:nvSpPr>
        <p:spPr>
          <a:xfrm>
            <a:off x="2304000" y="3394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59"/>
          <p:cNvSpPr/>
          <p:nvPr/>
        </p:nvSpPr>
        <p:spPr>
          <a:xfrm>
            <a:off x="1324440" y="3822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60"/>
          <p:cNvSpPr/>
          <p:nvPr/>
        </p:nvSpPr>
        <p:spPr>
          <a:xfrm>
            <a:off x="5871600" y="3051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61"/>
          <p:cNvSpPr/>
          <p:nvPr/>
        </p:nvSpPr>
        <p:spPr>
          <a:xfrm>
            <a:off x="5751720" y="3867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62"/>
          <p:cNvSpPr/>
          <p:nvPr/>
        </p:nvSpPr>
        <p:spPr>
          <a:xfrm>
            <a:off x="3896280" y="3324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63"/>
          <p:cNvSpPr/>
          <p:nvPr/>
        </p:nvSpPr>
        <p:spPr>
          <a:xfrm>
            <a:off x="5232960" y="40035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64"/>
          <p:cNvSpPr/>
          <p:nvPr/>
        </p:nvSpPr>
        <p:spPr>
          <a:xfrm>
            <a:off x="3293640" y="3591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65"/>
          <p:cNvSpPr/>
          <p:nvPr/>
        </p:nvSpPr>
        <p:spPr>
          <a:xfrm>
            <a:off x="1421280" y="4088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66"/>
          <p:cNvSpPr/>
          <p:nvPr/>
        </p:nvSpPr>
        <p:spPr>
          <a:xfrm>
            <a:off x="5785920" y="3879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167"/>
          <p:cNvSpPr/>
          <p:nvPr/>
        </p:nvSpPr>
        <p:spPr>
          <a:xfrm>
            <a:off x="4035600" y="38149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68"/>
          <p:cNvSpPr/>
          <p:nvPr/>
        </p:nvSpPr>
        <p:spPr>
          <a:xfrm>
            <a:off x="2504520" y="3817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169"/>
          <p:cNvSpPr/>
          <p:nvPr/>
        </p:nvSpPr>
        <p:spPr>
          <a:xfrm>
            <a:off x="2194200" y="4186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170"/>
          <p:cNvSpPr/>
          <p:nvPr/>
        </p:nvSpPr>
        <p:spPr>
          <a:xfrm>
            <a:off x="4099320" y="4810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171"/>
          <p:cNvSpPr/>
          <p:nvPr/>
        </p:nvSpPr>
        <p:spPr>
          <a:xfrm>
            <a:off x="4375800" y="3512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172"/>
          <p:cNvSpPr/>
          <p:nvPr/>
        </p:nvSpPr>
        <p:spPr>
          <a:xfrm>
            <a:off x="5684400" y="3861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173"/>
          <p:cNvSpPr/>
          <p:nvPr/>
        </p:nvSpPr>
        <p:spPr>
          <a:xfrm>
            <a:off x="1465200" y="4531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174"/>
          <p:cNvSpPr/>
          <p:nvPr/>
        </p:nvSpPr>
        <p:spPr>
          <a:xfrm>
            <a:off x="1222920" y="4536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175"/>
          <p:cNvSpPr/>
          <p:nvPr/>
        </p:nvSpPr>
        <p:spPr>
          <a:xfrm>
            <a:off x="4039200" y="3505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176"/>
          <p:cNvSpPr/>
          <p:nvPr/>
        </p:nvSpPr>
        <p:spPr>
          <a:xfrm>
            <a:off x="1482840" y="46843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177"/>
          <p:cNvSpPr/>
          <p:nvPr/>
        </p:nvSpPr>
        <p:spPr>
          <a:xfrm>
            <a:off x="3262320" y="31586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178"/>
          <p:cNvSpPr/>
          <p:nvPr/>
        </p:nvSpPr>
        <p:spPr>
          <a:xfrm>
            <a:off x="5498640" y="3518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179"/>
          <p:cNvSpPr/>
          <p:nvPr/>
        </p:nvSpPr>
        <p:spPr>
          <a:xfrm>
            <a:off x="3520080" y="2521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80"/>
          <p:cNvSpPr/>
          <p:nvPr/>
        </p:nvSpPr>
        <p:spPr>
          <a:xfrm>
            <a:off x="4925880" y="3756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81"/>
          <p:cNvSpPr/>
          <p:nvPr/>
        </p:nvSpPr>
        <p:spPr>
          <a:xfrm>
            <a:off x="1413000" y="4743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82"/>
          <p:cNvSpPr/>
          <p:nvPr/>
        </p:nvSpPr>
        <p:spPr>
          <a:xfrm>
            <a:off x="1802160" y="45511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83"/>
          <p:cNvSpPr/>
          <p:nvPr/>
        </p:nvSpPr>
        <p:spPr>
          <a:xfrm>
            <a:off x="1319400" y="4049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184"/>
          <p:cNvSpPr/>
          <p:nvPr/>
        </p:nvSpPr>
        <p:spPr>
          <a:xfrm>
            <a:off x="4918320" y="3935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85"/>
          <p:cNvSpPr/>
          <p:nvPr/>
        </p:nvSpPr>
        <p:spPr>
          <a:xfrm>
            <a:off x="2253960" y="4259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86"/>
          <p:cNvSpPr/>
          <p:nvPr/>
        </p:nvSpPr>
        <p:spPr>
          <a:xfrm>
            <a:off x="6509880" y="3117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87"/>
          <p:cNvSpPr/>
          <p:nvPr/>
        </p:nvSpPr>
        <p:spPr>
          <a:xfrm>
            <a:off x="1473480" y="4151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88"/>
          <p:cNvSpPr/>
          <p:nvPr/>
        </p:nvSpPr>
        <p:spPr>
          <a:xfrm>
            <a:off x="1756440" y="4403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89"/>
          <p:cNvSpPr/>
          <p:nvPr/>
        </p:nvSpPr>
        <p:spPr>
          <a:xfrm>
            <a:off x="3015360" y="38034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90"/>
          <p:cNvSpPr/>
          <p:nvPr/>
        </p:nvSpPr>
        <p:spPr>
          <a:xfrm>
            <a:off x="6213960" y="34660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91"/>
          <p:cNvSpPr/>
          <p:nvPr/>
        </p:nvSpPr>
        <p:spPr>
          <a:xfrm>
            <a:off x="1217880" y="4146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92"/>
          <p:cNvSpPr/>
          <p:nvPr/>
        </p:nvSpPr>
        <p:spPr>
          <a:xfrm>
            <a:off x="2438280" y="3983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93"/>
          <p:cNvSpPr/>
          <p:nvPr/>
        </p:nvSpPr>
        <p:spPr>
          <a:xfrm>
            <a:off x="5329080" y="3479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94"/>
          <p:cNvSpPr/>
          <p:nvPr/>
        </p:nvSpPr>
        <p:spPr>
          <a:xfrm>
            <a:off x="1636920" y="36928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195"/>
          <p:cNvSpPr/>
          <p:nvPr/>
        </p:nvSpPr>
        <p:spPr>
          <a:xfrm>
            <a:off x="1208880" y="43995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96"/>
          <p:cNvSpPr/>
          <p:nvPr/>
        </p:nvSpPr>
        <p:spPr>
          <a:xfrm>
            <a:off x="1662840" y="4103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197"/>
          <p:cNvSpPr/>
          <p:nvPr/>
        </p:nvSpPr>
        <p:spPr>
          <a:xfrm>
            <a:off x="3069360" y="42062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98"/>
          <p:cNvSpPr/>
          <p:nvPr/>
        </p:nvSpPr>
        <p:spPr>
          <a:xfrm>
            <a:off x="4098240" y="43448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99"/>
          <p:cNvSpPr/>
          <p:nvPr/>
        </p:nvSpPr>
        <p:spPr>
          <a:xfrm>
            <a:off x="3025080" y="3915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200"/>
          <p:cNvSpPr/>
          <p:nvPr/>
        </p:nvSpPr>
        <p:spPr>
          <a:xfrm>
            <a:off x="1221840" y="4878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01"/>
          <p:cNvSpPr/>
          <p:nvPr/>
        </p:nvSpPr>
        <p:spPr>
          <a:xfrm>
            <a:off x="1454400" y="3716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02"/>
          <p:cNvSpPr/>
          <p:nvPr/>
        </p:nvSpPr>
        <p:spPr>
          <a:xfrm>
            <a:off x="4603680" y="3375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03"/>
          <p:cNvSpPr/>
          <p:nvPr/>
        </p:nvSpPr>
        <p:spPr>
          <a:xfrm>
            <a:off x="3192480" y="4215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204"/>
          <p:cNvSpPr/>
          <p:nvPr/>
        </p:nvSpPr>
        <p:spPr>
          <a:xfrm>
            <a:off x="6466320" y="34214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205"/>
          <p:cNvSpPr/>
          <p:nvPr/>
        </p:nvSpPr>
        <p:spPr>
          <a:xfrm>
            <a:off x="1224360" y="4045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206"/>
          <p:cNvSpPr/>
          <p:nvPr/>
        </p:nvSpPr>
        <p:spPr>
          <a:xfrm>
            <a:off x="1386000" y="44841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207"/>
          <p:cNvSpPr/>
          <p:nvPr/>
        </p:nvSpPr>
        <p:spPr>
          <a:xfrm>
            <a:off x="3612960" y="37386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08"/>
          <p:cNvSpPr/>
          <p:nvPr/>
        </p:nvSpPr>
        <p:spPr>
          <a:xfrm>
            <a:off x="2494080" y="4244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09"/>
          <p:cNvSpPr/>
          <p:nvPr/>
        </p:nvSpPr>
        <p:spPr>
          <a:xfrm>
            <a:off x="1572120" y="4469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210"/>
          <p:cNvSpPr/>
          <p:nvPr/>
        </p:nvSpPr>
        <p:spPr>
          <a:xfrm>
            <a:off x="5434200" y="32662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11"/>
          <p:cNvSpPr/>
          <p:nvPr/>
        </p:nvSpPr>
        <p:spPr>
          <a:xfrm>
            <a:off x="2295000" y="43884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12"/>
          <p:cNvSpPr/>
          <p:nvPr/>
        </p:nvSpPr>
        <p:spPr>
          <a:xfrm>
            <a:off x="5050080" y="3313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13"/>
          <p:cNvSpPr/>
          <p:nvPr/>
        </p:nvSpPr>
        <p:spPr>
          <a:xfrm>
            <a:off x="3906720" y="3235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14"/>
          <p:cNvSpPr/>
          <p:nvPr/>
        </p:nvSpPr>
        <p:spPr>
          <a:xfrm>
            <a:off x="1342080" y="4677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15"/>
          <p:cNvSpPr/>
          <p:nvPr/>
        </p:nvSpPr>
        <p:spPr>
          <a:xfrm>
            <a:off x="2122200" y="372204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216"/>
          <p:cNvSpPr/>
          <p:nvPr/>
        </p:nvSpPr>
        <p:spPr>
          <a:xfrm>
            <a:off x="3292200" y="4203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17"/>
          <p:cNvSpPr/>
          <p:nvPr/>
        </p:nvSpPr>
        <p:spPr>
          <a:xfrm>
            <a:off x="2318760" y="3574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18"/>
          <p:cNvSpPr/>
          <p:nvPr/>
        </p:nvSpPr>
        <p:spPr>
          <a:xfrm>
            <a:off x="7032600" y="35967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219"/>
          <p:cNvSpPr/>
          <p:nvPr/>
        </p:nvSpPr>
        <p:spPr>
          <a:xfrm>
            <a:off x="1674720" y="40165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220"/>
          <p:cNvSpPr/>
          <p:nvPr/>
        </p:nvSpPr>
        <p:spPr>
          <a:xfrm>
            <a:off x="4310640" y="32508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221"/>
          <p:cNvSpPr/>
          <p:nvPr/>
        </p:nvSpPr>
        <p:spPr>
          <a:xfrm>
            <a:off x="6493680" y="39934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222"/>
          <p:cNvSpPr/>
          <p:nvPr/>
        </p:nvSpPr>
        <p:spPr>
          <a:xfrm>
            <a:off x="4092840" y="33573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223"/>
          <p:cNvSpPr/>
          <p:nvPr/>
        </p:nvSpPr>
        <p:spPr>
          <a:xfrm>
            <a:off x="1208880" y="468468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224"/>
          <p:cNvSpPr/>
          <p:nvPr/>
        </p:nvSpPr>
        <p:spPr>
          <a:xfrm>
            <a:off x="3871080" y="3627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25"/>
          <p:cNvSpPr/>
          <p:nvPr/>
        </p:nvSpPr>
        <p:spPr>
          <a:xfrm>
            <a:off x="1741680" y="412272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26"/>
          <p:cNvSpPr/>
          <p:nvPr/>
        </p:nvSpPr>
        <p:spPr>
          <a:xfrm>
            <a:off x="7058520" y="335700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27"/>
          <p:cNvSpPr/>
          <p:nvPr/>
        </p:nvSpPr>
        <p:spPr>
          <a:xfrm>
            <a:off x="5112720" y="3918960"/>
            <a:ext cx="50760" cy="50760"/>
          </a:xfrm>
          <a:prstGeom prst="ellipse">
            <a:avLst/>
          </a:prstGeom>
          <a:solidFill>
            <a:srgbClr val="b7dd6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 228"/>
          <p:cNvSpPr/>
          <p:nvPr/>
        </p:nvSpPr>
        <p:spPr>
          <a:xfrm>
            <a:off x="1234440" y="5788080"/>
            <a:ext cx="603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47e89"/>
                </a:solidFill>
                <a:latin typeface="Calibri"/>
                <a:ea typeface="Calibri"/>
              </a:rPr>
              <a:t>True causal effect (log-odds)  →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Text 229"/>
          <p:cNvSpPr/>
          <p:nvPr/>
        </p:nvSpPr>
        <p:spPr>
          <a:xfrm>
            <a:off x="365760" y="2286000"/>
            <a:ext cx="77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47e89"/>
                </a:solidFill>
                <a:latin typeface="Calibri"/>
                <a:ea typeface="Calibri"/>
              </a:rPr>
              <a:t>Predicted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47e89"/>
                </a:solidFill>
                <a:latin typeface="Calibri"/>
                <a:ea typeface="Calibri"/>
              </a:rPr>
              <a:t>ITE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ext 230"/>
          <p:cNvSpPr/>
          <p:nvPr/>
        </p:nvSpPr>
        <p:spPr>
          <a:xfrm>
            <a:off x="777240" y="41907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0.0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231"/>
          <p:cNvSpPr/>
          <p:nvPr/>
        </p:nvSpPr>
        <p:spPr>
          <a:xfrm>
            <a:off x="6263640" y="3253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f2b84b"/>
                </a:solidFill>
                <a:latin typeface="Calibri"/>
                <a:ea typeface="Calibri"/>
              </a:rPr>
              <a:t>trend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Shape 232"/>
          <p:cNvSpPr/>
          <p:nvPr/>
        </p:nvSpPr>
        <p:spPr>
          <a:xfrm>
            <a:off x="7772400" y="1783080"/>
            <a:ext cx="3565800" cy="4297320"/>
          </a:xfrm>
          <a:prstGeom prst="roundRect">
            <a:avLst>
              <a:gd name="adj" fmla="val 128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Text 233"/>
          <p:cNvSpPr/>
          <p:nvPr/>
        </p:nvSpPr>
        <p:spPr>
          <a:xfrm>
            <a:off x="8046720" y="20116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b7dd6b"/>
                </a:solidFill>
                <a:latin typeface="Courier New"/>
                <a:ea typeface="Courier New"/>
              </a:rPr>
              <a:t>0.522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234"/>
          <p:cNvSpPr/>
          <p:nvPr/>
        </p:nvSpPr>
        <p:spPr>
          <a:xfrm>
            <a:off x="8046720" y="274320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Pearson correlation, predicted ITE vs. true simulated effect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Shape 235"/>
          <p:cNvSpPr/>
          <p:nvPr/>
        </p:nvSpPr>
        <p:spPr>
          <a:xfrm>
            <a:off x="8046720" y="3429000"/>
            <a:ext cx="301752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236"/>
          <p:cNvSpPr/>
          <p:nvPr/>
        </p:nvSpPr>
        <p:spPr>
          <a:xfrm>
            <a:off x="8046720" y="3611880"/>
            <a:ext cx="30171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A moderate, clearly-positive correlation — the model recovers real signal about who benefits, without claiming precision the T-learner architecture can’t deliver (see Slide 23’s regularization-bias caveat).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 23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05 — EVALUATION &amp; VALIDATION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23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23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28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UPLIFT RANKING QUALITY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Qini curve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2"/>
          <p:cNvSpPr/>
          <p:nvPr/>
        </p:nvSpPr>
        <p:spPr>
          <a:xfrm>
            <a:off x="640080" y="178308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Sort accounts by predicted ITE, then compare the model’s incremental renewal rate at each targeted fraction against random targeting. The gap between the two curves is the Qini coefficient.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3"/>
          <p:cNvSpPr/>
          <p:nvPr/>
        </p:nvSpPr>
        <p:spPr>
          <a:xfrm>
            <a:off x="640080" y="2423160"/>
            <a:ext cx="7314840" cy="3657240"/>
          </a:xfrm>
          <a:prstGeom prst="roundRect">
            <a:avLst>
              <a:gd name="adj" fmla="val 1250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15" name="Chart 0"/>
          <p:cNvGraphicFramePr/>
          <p:nvPr/>
        </p:nvGraphicFramePr>
        <p:xfrm>
          <a:off x="914400" y="2606040"/>
          <a:ext cx="68576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16" name="Text 4"/>
          <p:cNvSpPr/>
          <p:nvPr/>
        </p:nvSpPr>
        <p:spPr>
          <a:xfrm>
            <a:off x="914400" y="580644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47e89"/>
                </a:solidFill>
                <a:latin typeface="Calibri"/>
                <a:ea typeface="Calibri"/>
              </a:rPr>
              <a:t>Fraction of accounts targeted (sorted by predicted ITE)  →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5"/>
          <p:cNvSpPr/>
          <p:nvPr/>
        </p:nvSpPr>
        <p:spPr>
          <a:xfrm>
            <a:off x="8138160" y="2423160"/>
            <a:ext cx="3382920" cy="3657240"/>
          </a:xfrm>
          <a:prstGeom prst="roundRect">
            <a:avLst>
              <a:gd name="adj" fmla="val 135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6"/>
          <p:cNvSpPr/>
          <p:nvPr/>
        </p:nvSpPr>
        <p:spPr>
          <a:xfrm>
            <a:off x="8412480" y="265176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84b"/>
                </a:solidFill>
                <a:latin typeface="Courier New"/>
                <a:ea typeface="Courier New"/>
              </a:rPr>
              <a:t>0.080</a:t>
            </a:r>
            <a:endParaRPr b="0" lang="en-GB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7"/>
          <p:cNvSpPr/>
          <p:nvPr/>
        </p:nvSpPr>
        <p:spPr>
          <a:xfrm>
            <a:off x="8412480" y="3246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Qini coefficient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Shape 8"/>
          <p:cNvSpPr/>
          <p:nvPr/>
        </p:nvSpPr>
        <p:spPr>
          <a:xfrm>
            <a:off x="8412480" y="3657600"/>
            <a:ext cx="283464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9"/>
          <p:cNvSpPr/>
          <p:nvPr/>
        </p:nvSpPr>
        <p:spPr>
          <a:xfrm>
            <a:off x="8412480" y="3840480"/>
            <a:ext cx="283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6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Positive and clearly above the random-targeting diagonal — the model’s ranking has real value, even short of the aspirational 0.15 target (Slide 30).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 10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05 — EVALUATION &amp; VALIDATION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11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12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29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READING THE RESULT HONESTLY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Why 0.080 falls short of the 0.15 target — and what closes it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2"/>
          <p:cNvSpPr/>
          <p:nvPr/>
        </p:nvSpPr>
        <p:spPr>
          <a:xfrm>
            <a:off x="640080" y="1783080"/>
            <a:ext cx="3501720" cy="2925720"/>
          </a:xfrm>
          <a:prstGeom prst="roundRect">
            <a:avLst>
              <a:gd name="adj" fmla="val 156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3"/>
          <p:cNvSpPr/>
          <p:nvPr/>
        </p:nvSpPr>
        <p:spPr>
          <a:xfrm>
            <a:off x="84132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9" name="Image 0" descr="/home/claude/icons/target_coral.png"/>
          <p:cNvPicPr/>
          <p:nvPr/>
        </p:nvPicPr>
        <p:blipFill>
          <a:blip r:embed="rId1"/>
          <a:stretch/>
        </p:blipFill>
        <p:spPr>
          <a:xfrm>
            <a:off x="90324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930" name="Text 4"/>
          <p:cNvSpPr/>
          <p:nvPr/>
        </p:nvSpPr>
        <p:spPr>
          <a:xfrm>
            <a:off x="841320" y="260604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What the target assumes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Text 5"/>
          <p:cNvSpPr/>
          <p:nvPr/>
        </p:nvSpPr>
        <p:spPr>
          <a:xfrm>
            <a:off x="841320" y="3154680"/>
            <a:ext cx="3099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briefing’s 0.15 aspirational Qini figure assumes a causal-forest model with confidence-interval-based targeting, not a T-learner (EXTENDING.md, item 1).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6"/>
          <p:cNvSpPr/>
          <p:nvPr/>
        </p:nvSpPr>
        <p:spPr>
          <a:xfrm>
            <a:off x="4325040" y="1783080"/>
            <a:ext cx="3501720" cy="2925720"/>
          </a:xfrm>
          <a:prstGeom prst="roundRect">
            <a:avLst>
              <a:gd name="adj" fmla="val 156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Shape 7"/>
          <p:cNvSpPr/>
          <p:nvPr/>
        </p:nvSpPr>
        <p:spPr>
          <a:xfrm>
            <a:off x="452628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4" name="Image 1" descr="/home/claude/icons/warning_amber.png"/>
          <p:cNvPicPr/>
          <p:nvPr/>
        </p:nvPicPr>
        <p:blipFill>
          <a:blip r:embed="rId2"/>
          <a:stretch/>
        </p:blipFill>
        <p:spPr>
          <a:xfrm>
            <a:off x="458820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935" name="Text 8"/>
          <p:cNvSpPr/>
          <p:nvPr/>
        </p:nvSpPr>
        <p:spPr>
          <a:xfrm>
            <a:off x="4526280" y="260604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Where the T-learner strains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9"/>
          <p:cNvSpPr/>
          <p:nvPr/>
        </p:nvSpPr>
        <p:spPr>
          <a:xfrm>
            <a:off x="4526280" y="3154680"/>
            <a:ext cx="3099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80/20 treatment imbalance introduces regularization bias into both response surfaces — exactly the failure mode a causal forest is built to reduce.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10"/>
          <p:cNvSpPr/>
          <p:nvPr/>
        </p:nvSpPr>
        <p:spPr>
          <a:xfrm>
            <a:off x="8010000" y="1783080"/>
            <a:ext cx="3501720" cy="2925720"/>
          </a:xfrm>
          <a:prstGeom prst="roundRect">
            <a:avLst>
              <a:gd name="adj" fmla="val 156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11"/>
          <p:cNvSpPr/>
          <p:nvPr/>
        </p:nvSpPr>
        <p:spPr>
          <a:xfrm>
            <a:off x="8211240" y="198432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9" name="Image 2" descr="/home/claude/icons/sliders_acid.png"/>
          <p:cNvPicPr/>
          <p:nvPr/>
        </p:nvPicPr>
        <p:blipFill>
          <a:blip r:embed="rId3"/>
          <a:stretch/>
        </p:blipFill>
        <p:spPr>
          <a:xfrm>
            <a:off x="8273160" y="2046240"/>
            <a:ext cx="351360" cy="351360"/>
          </a:xfrm>
          <a:prstGeom prst="rect">
            <a:avLst/>
          </a:prstGeom>
          <a:ln w="0">
            <a:noFill/>
          </a:ln>
        </p:spPr>
      </p:pic>
      <p:sp>
        <p:nvSpPr>
          <p:cNvPr id="940" name="Text 12"/>
          <p:cNvSpPr/>
          <p:nvPr/>
        </p:nvSpPr>
        <p:spPr>
          <a:xfrm>
            <a:off x="8211240" y="2606040"/>
            <a:ext cx="309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The concrete next step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Text 13"/>
          <p:cNvSpPr/>
          <p:nvPr/>
        </p:nvSpPr>
        <p:spPr>
          <a:xfrm>
            <a:off x="8211240" y="3154680"/>
            <a:ext cx="3099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Swap models_src/t_learner.py for EconML’s CausalForestDML — same features, same evaluation pipeline, a structurally better estimator.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14"/>
          <p:cNvSpPr/>
          <p:nvPr/>
        </p:nvSpPr>
        <p:spPr>
          <a:xfrm>
            <a:off x="640080" y="4892040"/>
            <a:ext cx="10881000" cy="1188360"/>
          </a:xfrm>
          <a:prstGeom prst="roundRect">
            <a:avLst>
              <a:gd name="adj" fmla="val 3846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15"/>
          <p:cNvSpPr/>
          <p:nvPr/>
        </p:nvSpPr>
        <p:spPr>
          <a:xfrm>
            <a:off x="868680" y="510228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4" name="Image 3" descr="/home/claude/icons/eye_amber.png"/>
          <p:cNvPicPr/>
          <p:nvPr/>
        </p:nvPicPr>
        <p:blipFill>
          <a:blip r:embed="rId4"/>
          <a:stretch/>
        </p:blipFill>
        <p:spPr>
          <a:xfrm>
            <a:off x="939960" y="517356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945" name="Text 16"/>
          <p:cNvSpPr/>
          <p:nvPr/>
        </p:nvSpPr>
        <p:spPr>
          <a:xfrm>
            <a:off x="1600200" y="50292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b84b"/>
                </a:solidFill>
                <a:latin typeface="Courier New"/>
                <a:ea typeface="Courier New"/>
              </a:rPr>
              <a:t>Why report a metric that misses its target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Text 17"/>
          <p:cNvSpPr/>
          <p:nvPr/>
        </p:nvSpPr>
        <p:spPr>
          <a:xfrm>
            <a:off x="1600200" y="5321880"/>
            <a:ext cx="9509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4f1e8"/>
                </a:solidFill>
                <a:latin typeface="Calibri"/>
                <a:ea typeface="Calibri"/>
              </a:rPr>
              <a:t>A model card that only shows numbers that clear their targets isn’t a model card — it’s marketing. The gap here is real, disclosed, and has a named fix.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ext 1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05 — EVALUATION &amp; VALIDATION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1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Text 2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30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2" name="Image 0" descr="/home/claude/icons/target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953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06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[ 06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SIX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Business Impact &amp; Targeting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Turning a ranking into a spend decision — and checking that the decision actually holds up.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6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HELD-OUT CONFIRMATION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The uplift holds on the test set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2"/>
          <p:cNvSpPr/>
          <p:nvPr/>
        </p:nvSpPr>
        <p:spPr>
          <a:xfrm>
            <a:off x="640080" y="178308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The treatment effect seen in the full cohort (Slide 13) replicates cleanly on the 9,000-account held-out test set — the split used for every scoring and evaluation number in this section.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3"/>
          <p:cNvSpPr/>
          <p:nvPr/>
        </p:nvSpPr>
        <p:spPr>
          <a:xfrm>
            <a:off x="640080" y="2514600"/>
            <a:ext cx="6217560" cy="3657240"/>
          </a:xfrm>
          <a:prstGeom prst="roundRect">
            <a:avLst>
              <a:gd name="adj" fmla="val 1250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 4"/>
          <p:cNvSpPr/>
          <p:nvPr/>
        </p:nvSpPr>
        <p:spPr>
          <a:xfrm>
            <a:off x="914400" y="2697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ourier New"/>
                <a:ea typeface="Courier New"/>
              </a:rPr>
              <a:t>Test set, n = 9,000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5"/>
          <p:cNvSpPr/>
          <p:nvPr/>
        </p:nvSpPr>
        <p:spPr>
          <a:xfrm>
            <a:off x="1828800" y="4189680"/>
            <a:ext cx="1828440" cy="161640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6"/>
          <p:cNvSpPr/>
          <p:nvPr/>
        </p:nvSpPr>
        <p:spPr>
          <a:xfrm>
            <a:off x="1828800" y="3823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4f1e8"/>
                </a:solidFill>
                <a:latin typeface="Courier New"/>
                <a:ea typeface="Courier New"/>
              </a:rPr>
              <a:t>68.0%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7"/>
          <p:cNvSpPr/>
          <p:nvPr/>
        </p:nvSpPr>
        <p:spPr>
          <a:xfrm>
            <a:off x="1828800" y="5879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Control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8"/>
          <p:cNvSpPr/>
          <p:nvPr/>
        </p:nvSpPr>
        <p:spPr>
          <a:xfrm>
            <a:off x="4480560" y="3992400"/>
            <a:ext cx="1828440" cy="181368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Text 9"/>
          <p:cNvSpPr/>
          <p:nvPr/>
        </p:nvSpPr>
        <p:spPr>
          <a:xfrm>
            <a:off x="4480560" y="36266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4f1e8"/>
                </a:solidFill>
                <a:latin typeface="Courier New"/>
                <a:ea typeface="Courier New"/>
              </a:rPr>
              <a:t>76.3%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10"/>
          <p:cNvSpPr/>
          <p:nvPr/>
        </p:nvSpPr>
        <p:spPr>
          <a:xfrm>
            <a:off x="4480560" y="5879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Treated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11"/>
          <p:cNvSpPr/>
          <p:nvPr/>
        </p:nvSpPr>
        <p:spPr>
          <a:xfrm>
            <a:off x="1371600" y="5806440"/>
            <a:ext cx="4846320" cy="360"/>
          </a:xfrm>
          <a:prstGeom prst="line">
            <a:avLst/>
          </a:prstGeom>
          <a:ln w="1587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12"/>
          <p:cNvSpPr/>
          <p:nvPr/>
        </p:nvSpPr>
        <p:spPr>
          <a:xfrm>
            <a:off x="7040880" y="2514600"/>
            <a:ext cx="4480200" cy="3657240"/>
          </a:xfrm>
          <a:prstGeom prst="roundRect">
            <a:avLst>
              <a:gd name="adj" fmla="val 1250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13"/>
          <p:cNvSpPr/>
          <p:nvPr/>
        </p:nvSpPr>
        <p:spPr>
          <a:xfrm>
            <a:off x="7315200" y="27889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b7dd6b"/>
                </a:solidFill>
                <a:latin typeface="Courier New"/>
                <a:ea typeface="Courier New"/>
              </a:rPr>
              <a:t>+8.3</a:t>
            </a:r>
            <a:endParaRPr b="0" lang="en-GB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 14"/>
          <p:cNvSpPr/>
          <p:nvPr/>
        </p:nvSpPr>
        <p:spPr>
          <a:xfrm>
            <a:off x="7315200" y="35661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points — test-set uplift in renewal rate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15"/>
          <p:cNvSpPr/>
          <p:nvPr/>
        </p:nvSpPr>
        <p:spPr>
          <a:xfrm>
            <a:off x="7315200" y="4160520"/>
            <a:ext cx="384048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16"/>
          <p:cNvSpPr/>
          <p:nvPr/>
        </p:nvSpPr>
        <p:spPr>
          <a:xfrm>
            <a:off x="7315200" y="4343400"/>
            <a:ext cx="38401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Close to the 9.6-point full-cohort estimate — consistent with a clean random split rather than a lucky sample.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1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06 — BUSINESS IMPACT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1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1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32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TARGETING RULE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Discount the top 45% by predicted ITE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2"/>
          <p:cNvSpPr/>
          <p:nvPr/>
        </p:nvSpPr>
        <p:spPr>
          <a:xfrm>
            <a:off x="640080" y="178308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The threshold is set at the 55th percentile of predicted_ite — targeting the top 45% of accounts by estimated uplift. Everything above the line gets the discount; everything below it doesn’t.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3"/>
          <p:cNvSpPr/>
          <p:nvPr/>
        </p:nvSpPr>
        <p:spPr>
          <a:xfrm>
            <a:off x="640080" y="2514600"/>
            <a:ext cx="6949080" cy="3657240"/>
          </a:xfrm>
          <a:prstGeom prst="roundRect">
            <a:avLst>
              <a:gd name="adj" fmla="val 1250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4"/>
          <p:cNvSpPr/>
          <p:nvPr/>
        </p:nvSpPr>
        <p:spPr>
          <a:xfrm>
            <a:off x="914400" y="26974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ourier New"/>
                <a:ea typeface="Courier New"/>
              </a:rPr>
              <a:t>Predicted ITE distribution, test set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Shape 5"/>
          <p:cNvSpPr/>
          <p:nvPr/>
        </p:nvSpPr>
        <p:spPr>
          <a:xfrm>
            <a:off x="914400" y="3063240"/>
            <a:ext cx="6400440" cy="2880000"/>
          </a:xfrm>
          <a:prstGeom prst="roundRect">
            <a:avLst>
              <a:gd name="adj" fmla="val 1587"/>
            </a:avLst>
          </a:prstGeom>
          <a:solidFill>
            <a:srgbClr val="14171c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Shape 6"/>
          <p:cNvSpPr/>
          <p:nvPr/>
        </p:nvSpPr>
        <p:spPr>
          <a:xfrm>
            <a:off x="1051560" y="5554080"/>
            <a:ext cx="548280" cy="1148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7"/>
          <p:cNvSpPr/>
          <p:nvPr/>
        </p:nvSpPr>
        <p:spPr>
          <a:xfrm>
            <a:off x="1654920" y="5324040"/>
            <a:ext cx="548280" cy="34488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8"/>
          <p:cNvSpPr/>
          <p:nvPr/>
        </p:nvSpPr>
        <p:spPr>
          <a:xfrm>
            <a:off x="2258640" y="4787280"/>
            <a:ext cx="548280" cy="88164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9"/>
          <p:cNvSpPr/>
          <p:nvPr/>
        </p:nvSpPr>
        <p:spPr>
          <a:xfrm>
            <a:off x="2862000" y="3828600"/>
            <a:ext cx="548280" cy="1840320"/>
          </a:xfrm>
          <a:prstGeom prst="rect">
            <a:avLst/>
          </a:prstGeom>
          <a:solidFill>
            <a:srgbClr val="ff7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0"/>
          <p:cNvSpPr/>
          <p:nvPr/>
        </p:nvSpPr>
        <p:spPr>
          <a:xfrm>
            <a:off x="3465720" y="3291840"/>
            <a:ext cx="548280" cy="237708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11"/>
          <p:cNvSpPr/>
          <p:nvPr/>
        </p:nvSpPr>
        <p:spPr>
          <a:xfrm>
            <a:off x="4069080" y="3828600"/>
            <a:ext cx="548280" cy="184032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2"/>
          <p:cNvSpPr/>
          <p:nvPr/>
        </p:nvSpPr>
        <p:spPr>
          <a:xfrm>
            <a:off x="4672440" y="4672440"/>
            <a:ext cx="548280" cy="99648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3"/>
          <p:cNvSpPr/>
          <p:nvPr/>
        </p:nvSpPr>
        <p:spPr>
          <a:xfrm>
            <a:off x="5276160" y="5209200"/>
            <a:ext cx="548280" cy="45972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4"/>
          <p:cNvSpPr/>
          <p:nvPr/>
        </p:nvSpPr>
        <p:spPr>
          <a:xfrm>
            <a:off x="5879520" y="5477400"/>
            <a:ext cx="548280" cy="19152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5"/>
          <p:cNvSpPr/>
          <p:nvPr/>
        </p:nvSpPr>
        <p:spPr>
          <a:xfrm>
            <a:off x="6483240" y="5611680"/>
            <a:ext cx="548280" cy="572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600" bIns="126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6"/>
          <p:cNvSpPr/>
          <p:nvPr/>
        </p:nvSpPr>
        <p:spPr>
          <a:xfrm>
            <a:off x="3483720" y="3154680"/>
            <a:ext cx="360" cy="2514600"/>
          </a:xfrm>
          <a:prstGeom prst="line">
            <a:avLst/>
          </a:prstGeom>
          <a:ln w="19050">
            <a:solidFill>
              <a:srgbClr val="f2b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Text 17"/>
          <p:cNvSpPr/>
          <p:nvPr/>
        </p:nvSpPr>
        <p:spPr>
          <a:xfrm>
            <a:off x="3008520" y="288036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2b84b"/>
                </a:solidFill>
                <a:latin typeface="Courier New"/>
                <a:ea typeface="Courier New"/>
              </a:rPr>
              <a:t>threshold ≈ 0.11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Shape 18"/>
          <p:cNvSpPr/>
          <p:nvPr/>
        </p:nvSpPr>
        <p:spPr>
          <a:xfrm>
            <a:off x="1051560" y="5669280"/>
            <a:ext cx="603504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Text 19"/>
          <p:cNvSpPr/>
          <p:nvPr/>
        </p:nvSpPr>
        <p:spPr>
          <a:xfrm>
            <a:off x="1051560" y="5742360"/>
            <a:ext cx="603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47e89"/>
                </a:solidFill>
                <a:latin typeface="Calibri"/>
                <a:ea typeface="Calibri"/>
              </a:rPr>
              <a:t>predicted_ite  →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20"/>
          <p:cNvSpPr/>
          <p:nvPr/>
        </p:nvSpPr>
        <p:spPr>
          <a:xfrm>
            <a:off x="914400" y="598932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47e89"/>
                </a:solidFill>
                <a:latin typeface="Calibri"/>
                <a:ea typeface="Calibri"/>
              </a:rPr>
              <a:t>coral = not targeted   ·   green = targeted (top 45%)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Shape 21"/>
          <p:cNvSpPr/>
          <p:nvPr/>
        </p:nvSpPr>
        <p:spPr>
          <a:xfrm>
            <a:off x="7772400" y="2514600"/>
            <a:ext cx="356580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22"/>
          <p:cNvSpPr/>
          <p:nvPr/>
        </p:nvSpPr>
        <p:spPr>
          <a:xfrm>
            <a:off x="7992000" y="2752200"/>
            <a:ext cx="312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4f1e8"/>
                </a:solidFill>
                <a:latin typeface="Courier New"/>
                <a:ea typeface="Courier New"/>
              </a:rPr>
              <a:t>45.0%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Text 23"/>
          <p:cNvSpPr/>
          <p:nvPr/>
        </p:nvSpPr>
        <p:spPr>
          <a:xfrm>
            <a:off x="7992000" y="3227760"/>
            <a:ext cx="3181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of test accounts targeted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Shape 24"/>
          <p:cNvSpPr/>
          <p:nvPr/>
        </p:nvSpPr>
        <p:spPr>
          <a:xfrm>
            <a:off x="8001000" y="3794760"/>
            <a:ext cx="310896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Shape 25"/>
          <p:cNvSpPr/>
          <p:nvPr/>
        </p:nvSpPr>
        <p:spPr>
          <a:xfrm>
            <a:off x="7772400" y="3931920"/>
            <a:ext cx="356580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26"/>
          <p:cNvSpPr/>
          <p:nvPr/>
        </p:nvSpPr>
        <p:spPr>
          <a:xfrm>
            <a:off x="7992000" y="4169520"/>
            <a:ext cx="312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4f1e8"/>
                </a:solidFill>
                <a:latin typeface="Courier New"/>
                <a:ea typeface="Courier New"/>
              </a:rPr>
              <a:t>0.110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Text 27"/>
          <p:cNvSpPr/>
          <p:nvPr/>
        </p:nvSpPr>
        <p:spPr>
          <a:xfrm>
            <a:off x="7992000" y="4645080"/>
            <a:ext cx="3181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db4bd"/>
                </a:solidFill>
                <a:latin typeface="Calibri"/>
                <a:ea typeface="Calibri"/>
              </a:rPr>
              <a:t>predicted ITE cut-off (55th pct.)</a:t>
            </a:r>
            <a:endParaRPr b="0" lang="en-GB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Text 2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06 — BUSINESS IMPACT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2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3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33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WHO GETS TARGETED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Not simply "the biggest accounts"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2"/>
          <p:cNvSpPr/>
          <p:nvPr/>
        </p:nvSpPr>
        <p:spPr>
          <a:xfrm>
            <a:off x="640080" y="178308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adb4bd"/>
                </a:solidFill>
                <a:latin typeface="Calibri"/>
                <a:ea typeface="Calibri"/>
              </a:rPr>
              <a:t>Targeted accounts renew at a higher rate than the ones skipped — but they carry a lower average ARR, not a higher one. Persuadability, not account size, is driving the targeting rule.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Shape 3"/>
          <p:cNvSpPr/>
          <p:nvPr/>
        </p:nvSpPr>
        <p:spPr>
          <a:xfrm>
            <a:off x="640080" y="2514600"/>
            <a:ext cx="10881000" cy="3565800"/>
          </a:xfrm>
          <a:prstGeom prst="roundRect">
            <a:avLst>
              <a:gd name="adj" fmla="val 128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5" name="Text 5"/>
          <p:cNvSpPr/>
          <p:nvPr/>
        </p:nvSpPr>
        <p:spPr>
          <a:xfrm>
            <a:off x="914400" y="27432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747e89"/>
                </a:solidFill>
                <a:latin typeface="Courier New"/>
                <a:ea typeface="Courier New"/>
              </a:rPr>
              <a:t>METRIC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Text 6"/>
          <p:cNvSpPr/>
          <p:nvPr/>
        </p:nvSpPr>
        <p:spPr>
          <a:xfrm>
            <a:off x="4846320" y="2743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b7dd6b"/>
                </a:solidFill>
                <a:latin typeface="Courier New"/>
                <a:ea typeface="Courier New"/>
              </a:rPr>
              <a:t>TARGETED (TOP 45%)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7"/>
          <p:cNvSpPr/>
          <p:nvPr/>
        </p:nvSpPr>
        <p:spPr>
          <a:xfrm>
            <a:off x="8229600" y="2743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7a5c"/>
                </a:solidFill>
                <a:latin typeface="Courier New"/>
                <a:ea typeface="Courier New"/>
              </a:rPr>
              <a:t>NOT TARGETED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Shape 8"/>
          <p:cNvSpPr/>
          <p:nvPr/>
        </p:nvSpPr>
        <p:spPr>
          <a:xfrm>
            <a:off x="914400" y="3108960"/>
            <a:ext cx="10332720" cy="360"/>
          </a:xfrm>
          <a:prstGeom prst="line">
            <a:avLst/>
          </a:prstGeom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Text 9"/>
          <p:cNvSpPr/>
          <p:nvPr/>
        </p:nvSpPr>
        <p:spPr>
          <a:xfrm>
            <a:off x="914400" y="32918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libri"/>
                <a:ea typeface="Calibri"/>
              </a:rPr>
              <a:t>Renewal rate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10"/>
          <p:cNvSpPr/>
          <p:nvPr/>
        </p:nvSpPr>
        <p:spPr>
          <a:xfrm>
            <a:off x="4846320" y="3291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76.0%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11"/>
          <p:cNvSpPr/>
          <p:nvPr/>
        </p:nvSpPr>
        <p:spPr>
          <a:xfrm>
            <a:off x="8229600" y="3291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a5c"/>
                </a:solidFill>
                <a:latin typeface="Courier New"/>
                <a:ea typeface="Courier New"/>
              </a:rPr>
              <a:t>73.5%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Shape 12"/>
          <p:cNvSpPr/>
          <p:nvPr/>
        </p:nvSpPr>
        <p:spPr>
          <a:xfrm>
            <a:off x="914400" y="3886200"/>
            <a:ext cx="10332720" cy="360"/>
          </a:xfrm>
          <a:prstGeom prst="line">
            <a:avLst/>
          </a:prstGeom>
          <a:ln w="9525">
            <a:solidFill>
              <a:srgbClr val="262c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13"/>
          <p:cNvSpPr/>
          <p:nvPr/>
        </p:nvSpPr>
        <p:spPr>
          <a:xfrm>
            <a:off x="914400" y="39319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libri"/>
                <a:ea typeface="Calibri"/>
              </a:rPr>
              <a:t>Mean ARR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14"/>
          <p:cNvSpPr/>
          <p:nvPr/>
        </p:nvSpPr>
        <p:spPr>
          <a:xfrm>
            <a:off x="4846320" y="39319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$16,509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Text 15"/>
          <p:cNvSpPr/>
          <p:nvPr/>
        </p:nvSpPr>
        <p:spPr>
          <a:xfrm>
            <a:off x="8229600" y="39319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a5c"/>
                </a:solidFill>
                <a:latin typeface="Courier New"/>
                <a:ea typeface="Courier New"/>
              </a:rPr>
              <a:t>$18,873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Shape 16"/>
          <p:cNvSpPr/>
          <p:nvPr/>
        </p:nvSpPr>
        <p:spPr>
          <a:xfrm>
            <a:off x="914400" y="4526280"/>
            <a:ext cx="10332720" cy="360"/>
          </a:xfrm>
          <a:prstGeom prst="line">
            <a:avLst/>
          </a:prstGeom>
          <a:ln w="9525">
            <a:solidFill>
              <a:srgbClr val="262c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Text 17"/>
          <p:cNvSpPr/>
          <p:nvPr/>
        </p:nvSpPr>
        <p:spPr>
          <a:xfrm>
            <a:off x="914400" y="45720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f1e8"/>
                </a:solidFill>
                <a:latin typeface="Calibri"/>
                <a:ea typeface="Calibri"/>
              </a:rPr>
              <a:t>Segment size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Text 18"/>
          <p:cNvSpPr/>
          <p:nvPr/>
        </p:nvSpPr>
        <p:spPr>
          <a:xfrm>
            <a:off x="4846320" y="45720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7dd6b"/>
                </a:solidFill>
                <a:latin typeface="Courier New"/>
                <a:ea typeface="Courier New"/>
              </a:rPr>
              <a:t>4,050 accounts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19"/>
          <p:cNvSpPr/>
          <p:nvPr/>
        </p:nvSpPr>
        <p:spPr>
          <a:xfrm>
            <a:off x="8229600" y="45720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a5c"/>
                </a:solidFill>
                <a:latin typeface="Courier New"/>
                <a:ea typeface="Courier New"/>
              </a:rPr>
              <a:t>4,950 accounts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Shape 20"/>
          <p:cNvSpPr/>
          <p:nvPr/>
        </p:nvSpPr>
        <p:spPr>
          <a:xfrm>
            <a:off x="914400" y="5166360"/>
            <a:ext cx="10332720" cy="360"/>
          </a:xfrm>
          <a:prstGeom prst="line">
            <a:avLst/>
          </a:prstGeom>
          <a:ln w="9525">
            <a:solidFill>
              <a:srgbClr val="262c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 21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06 — BUSINESS IMPACT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22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23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34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THE BACKTEST RESULT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Less spend, same protective effect, high precision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Shape 2"/>
          <p:cNvSpPr/>
          <p:nvPr/>
        </p:nvSpPr>
        <p:spPr>
          <a:xfrm>
            <a:off x="640080" y="178308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3"/>
          <p:cNvSpPr/>
          <p:nvPr/>
        </p:nvSpPr>
        <p:spPr>
          <a:xfrm>
            <a:off x="84132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8" name="Image 0" descr="/home/claude/icons/coins_acid.png"/>
          <p:cNvPicPr/>
          <p:nvPr/>
        </p:nvPicPr>
        <p:blipFill>
          <a:blip r:embed="rId1"/>
          <a:stretch/>
        </p:blipFill>
        <p:spPr>
          <a:xfrm>
            <a:off x="90072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039" name="Shape 4"/>
          <p:cNvSpPr/>
          <p:nvPr/>
        </p:nvSpPr>
        <p:spPr>
          <a:xfrm>
            <a:off x="3547800" y="198432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b7dd6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0" name="Image 1" descr="/home/claude/icons/check_ink.png"/>
          <p:cNvPicPr/>
          <p:nvPr/>
        </p:nvPicPr>
        <p:blipFill>
          <a:blip r:embed="rId2"/>
          <a:stretch/>
        </p:blipFill>
        <p:spPr>
          <a:xfrm>
            <a:off x="3595320" y="203184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041" name="Text 5"/>
          <p:cNvSpPr/>
          <p:nvPr/>
        </p:nvSpPr>
        <p:spPr>
          <a:xfrm>
            <a:off x="841320" y="2569320"/>
            <a:ext cx="30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4f1e8"/>
                </a:solidFill>
                <a:latin typeface="Courier New"/>
                <a:ea typeface="Courier New"/>
              </a:rPr>
              <a:t>55.0%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6"/>
          <p:cNvSpPr/>
          <p:nvPr/>
        </p:nvSpPr>
        <p:spPr>
          <a:xfrm>
            <a:off x="841320" y="3154680"/>
            <a:ext cx="3099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Discount-spend reduction vs.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blanket discounting (target ≥ 18%)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7"/>
          <p:cNvSpPr/>
          <p:nvPr/>
        </p:nvSpPr>
        <p:spPr>
          <a:xfrm>
            <a:off x="4325040" y="178308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8"/>
          <p:cNvSpPr/>
          <p:nvPr/>
        </p:nvSpPr>
        <p:spPr>
          <a:xfrm>
            <a:off x="452628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5" name="Image 2" descr="/home/claude/icons/target_acid.png"/>
          <p:cNvPicPr/>
          <p:nvPr/>
        </p:nvPicPr>
        <p:blipFill>
          <a:blip r:embed="rId3"/>
          <a:stretch/>
        </p:blipFill>
        <p:spPr>
          <a:xfrm>
            <a:off x="458568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046" name="Shape 9"/>
          <p:cNvSpPr/>
          <p:nvPr/>
        </p:nvSpPr>
        <p:spPr>
          <a:xfrm>
            <a:off x="7232760" y="198432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b7dd6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7" name="Image 3" descr="/home/claude/icons/check_ink.png"/>
          <p:cNvPicPr/>
          <p:nvPr/>
        </p:nvPicPr>
        <p:blipFill>
          <a:blip r:embed="rId4"/>
          <a:stretch/>
        </p:blipFill>
        <p:spPr>
          <a:xfrm>
            <a:off x="7280280" y="203184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048" name="Text 10"/>
          <p:cNvSpPr/>
          <p:nvPr/>
        </p:nvSpPr>
        <p:spPr>
          <a:xfrm>
            <a:off x="4526280" y="2569320"/>
            <a:ext cx="30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4f1e8"/>
                </a:solidFill>
                <a:latin typeface="Courier New"/>
                <a:ea typeface="Courier New"/>
              </a:rPr>
              <a:t>77.5%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11"/>
          <p:cNvSpPr/>
          <p:nvPr/>
        </p:nvSpPr>
        <p:spPr>
          <a:xfrm>
            <a:off x="4526280" y="3154680"/>
            <a:ext cx="3099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Persuadable-segment precision —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true effect &gt; 0.3 log-odds (target ≥ 60%)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12"/>
          <p:cNvSpPr/>
          <p:nvPr/>
        </p:nvSpPr>
        <p:spPr>
          <a:xfrm>
            <a:off x="8010000" y="1783080"/>
            <a:ext cx="3501720" cy="2331360"/>
          </a:xfrm>
          <a:prstGeom prst="roundRect">
            <a:avLst>
              <a:gd name="adj" fmla="val 1961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Shape 13"/>
          <p:cNvSpPr/>
          <p:nvPr/>
        </p:nvSpPr>
        <p:spPr>
          <a:xfrm>
            <a:off x="8211240" y="1984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2" name="Image 4" descr="/home/claude/icons/pie_amber.png"/>
          <p:cNvPicPr/>
          <p:nvPr/>
        </p:nvPicPr>
        <p:blipFill>
          <a:blip r:embed="rId5"/>
          <a:stretch/>
        </p:blipFill>
        <p:spPr>
          <a:xfrm>
            <a:off x="8270640" y="204372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1053" name="Text 14"/>
          <p:cNvSpPr/>
          <p:nvPr/>
        </p:nvSpPr>
        <p:spPr>
          <a:xfrm>
            <a:off x="8211240" y="2569320"/>
            <a:ext cx="309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4f1e8"/>
                </a:solidFill>
                <a:latin typeface="Courier New"/>
                <a:ea typeface="Courier New"/>
              </a:rPr>
              <a:t>45.0%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15"/>
          <p:cNvSpPr/>
          <p:nvPr/>
        </p:nvSpPr>
        <p:spPr>
          <a:xfrm>
            <a:off x="8211240" y="3154680"/>
            <a:ext cx="3099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Share of accounts still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receiving the discount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Shape 16"/>
          <p:cNvSpPr/>
          <p:nvPr/>
        </p:nvSpPr>
        <p:spPr>
          <a:xfrm>
            <a:off x="640080" y="4343400"/>
            <a:ext cx="10881000" cy="1737000"/>
          </a:xfrm>
          <a:prstGeom prst="roundRect">
            <a:avLst>
              <a:gd name="adj" fmla="val 2632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17"/>
          <p:cNvSpPr/>
          <p:nvPr/>
        </p:nvSpPr>
        <p:spPr>
          <a:xfrm>
            <a:off x="914400" y="45720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7dd6b"/>
                </a:solidFill>
                <a:latin typeface="Courier New"/>
                <a:ea typeface="Courier New"/>
              </a:rPr>
              <a:t>What this means in dollars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Text 18"/>
          <p:cNvSpPr/>
          <p:nvPr/>
        </p:nvSpPr>
        <p:spPr>
          <a:xfrm>
            <a:off x="914400" y="489204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Skipping the discount on the bottom 55% of accounts by predicted ITE — while 77.5% of the accounts still targeted are confirmed genuinely persuadable — lets a renewal-discount programme protect nearly all of its retention lift at roughly half the spend. The remaining question is how much of that other 22.5% of targeted spend is still justified; a causal-forest upgrade (Slide 30) is the disclosed path to tightening it further.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19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06 — BUSINESS IMPACT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20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21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35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3" name="Image 0" descr="/home/claude/icons/scales_ink.png"/>
          <p:cNvPicPr/>
          <p:nvPr/>
        </p:nvPicPr>
        <p:blipFill>
          <a:blip r:embed="rId1"/>
          <a:stretch/>
        </p:blipFill>
        <p:spPr>
          <a:xfrm>
            <a:off x="9753480" y="187452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1064" name="Text 2"/>
          <p:cNvSpPr/>
          <p:nvPr/>
        </p:nvSpPr>
        <p:spPr>
          <a:xfrm>
            <a:off x="8869680" y="4572000"/>
            <a:ext cx="332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14171c"/>
                </a:solidFill>
                <a:latin typeface="Courier New"/>
                <a:ea typeface="Courier New"/>
              </a:rPr>
              <a:t>SEC. 07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Text 3"/>
          <p:cNvSpPr/>
          <p:nvPr/>
        </p:nvSpPr>
        <p:spPr>
          <a:xfrm>
            <a:off x="822960" y="685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b7dd6b"/>
                </a:solidFill>
                <a:latin typeface="Courier New"/>
                <a:ea typeface="Courier New"/>
              </a:rPr>
              <a:t>[ 07 / 07 ]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Text 4"/>
          <p:cNvSpPr/>
          <p:nvPr/>
        </p:nvSpPr>
        <p:spPr>
          <a:xfrm>
            <a:off x="822960" y="27889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199" strike="noStrike">
                <a:solidFill>
                  <a:srgbClr val="adb4bd"/>
                </a:solidFill>
                <a:latin typeface="Courier New"/>
                <a:ea typeface="Courier New"/>
              </a:rPr>
              <a:t>SECTION SEVEN</a:t>
            </a:r>
            <a:endParaRPr b="0" lang="en-GB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Text 5"/>
          <p:cNvSpPr/>
          <p:nvPr/>
        </p:nvSpPr>
        <p:spPr>
          <a:xfrm>
            <a:off x="822960" y="315468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4f1e8"/>
                </a:solidFill>
                <a:latin typeface="Cambria"/>
                <a:ea typeface="Cambria"/>
              </a:rPr>
              <a:t>Deployment &amp; Responsible Use</a:t>
            </a:r>
            <a:endParaRPr b="0" lang="en-GB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Text 6"/>
          <p:cNvSpPr/>
          <p:nvPr/>
        </p:nvSpPr>
        <p:spPr>
          <a:xfrm>
            <a:off x="822960" y="470916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db4bd"/>
                </a:solidFill>
                <a:latin typeface="Calibri"/>
                <a:ea typeface="Calibri"/>
              </a:rPr>
              <a:t>A dashboard, a model card, and a hard line on experiment design — causal claims only stand on a real randomized holdout.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Text 7"/>
          <p:cNvSpPr/>
          <p:nvPr/>
        </p:nvSpPr>
        <p:spPr>
          <a:xfrm>
            <a:off x="822960" y="6263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48" strike="noStrike">
                <a:solidFill>
                  <a:srgbClr val="747e89"/>
                </a:solidFill>
                <a:latin typeface="Courier New"/>
                <a:ea typeface="Courier New"/>
              </a:rPr>
              <a:t>SECTION 7 OF 7</a:t>
            </a:r>
            <a:endParaRPr b="0" lang="en-GB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DECISION-SUPPORT INTERFACE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4f1e8"/>
                </a:solidFill>
                <a:latin typeface="Cambria"/>
                <a:ea typeface="Cambria"/>
              </a:rPr>
              <a:t>The reference dashboard, at a glance</a:t>
            </a:r>
            <a:endParaRPr b="0" lang="en-GB" sz="2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2" name="Image 0" descr="/home/claude/ur_dashboard.jpeg"/>
          <p:cNvPicPr/>
          <p:nvPr/>
        </p:nvPicPr>
        <p:blipFill>
          <a:blip r:embed="rId1"/>
          <a:stretch/>
        </p:blipFill>
        <p:spPr>
          <a:xfrm>
            <a:off x="640080" y="1691640"/>
            <a:ext cx="7817760" cy="4882680"/>
          </a:xfrm>
          <a:prstGeom prst="rect">
            <a:avLst/>
          </a:prstGeom>
          <a:ln w="0">
            <a:noFill/>
          </a:ln>
        </p:spPr>
      </p:pic>
      <p:sp>
        <p:nvSpPr>
          <p:cNvPr id="1073" name="Shape 2"/>
          <p:cNvSpPr/>
          <p:nvPr/>
        </p:nvSpPr>
        <p:spPr>
          <a:xfrm>
            <a:off x="640080" y="1691640"/>
            <a:ext cx="7817760" cy="4882680"/>
          </a:xfrm>
          <a:prstGeom prst="rect">
            <a:avLst/>
          </a:prstGeom>
          <a:noFill/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Shape 3"/>
          <p:cNvSpPr/>
          <p:nvPr/>
        </p:nvSpPr>
        <p:spPr>
          <a:xfrm>
            <a:off x="8686800" y="1691640"/>
            <a:ext cx="2834280" cy="4891680"/>
          </a:xfrm>
          <a:prstGeom prst="roundRect">
            <a:avLst>
              <a:gd name="adj" fmla="val 1613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4"/>
          <p:cNvSpPr/>
          <p:nvPr/>
        </p:nvSpPr>
        <p:spPr>
          <a:xfrm>
            <a:off x="8915400" y="1874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b7dd6b"/>
                </a:solidFill>
                <a:latin typeface="Courier New"/>
                <a:ea typeface="Courier New"/>
              </a:rPr>
              <a:t>What it surfaces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Shape 5"/>
          <p:cNvSpPr/>
          <p:nvPr/>
        </p:nvSpPr>
        <p:spPr>
          <a:xfrm>
            <a:off x="8915400" y="2212920"/>
            <a:ext cx="255600" cy="255600"/>
          </a:xfrm>
          <a:prstGeom prst="roundRect">
            <a:avLst>
              <a:gd name="adj" fmla="val 2857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7" name="Image 1" descr="/home/claude/icons/check_acid.png"/>
          <p:cNvPicPr/>
          <p:nvPr/>
        </p:nvPicPr>
        <p:blipFill>
          <a:blip r:embed="rId2"/>
          <a:stretch/>
        </p:blipFill>
        <p:spPr>
          <a:xfrm>
            <a:off x="8948520" y="2246040"/>
            <a:ext cx="189000" cy="189000"/>
          </a:xfrm>
          <a:prstGeom prst="rect">
            <a:avLst/>
          </a:prstGeom>
          <a:ln w="0">
            <a:noFill/>
          </a:ln>
        </p:spPr>
      </p:pic>
      <p:sp>
        <p:nvSpPr>
          <p:cNvPr id="1078" name="Text 6"/>
          <p:cNvSpPr/>
          <p:nvPr/>
        </p:nvSpPr>
        <p:spPr>
          <a:xfrm>
            <a:off x="9217080" y="217620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adb4bd"/>
                </a:solidFill>
                <a:latin typeface="Calibri"/>
                <a:ea typeface="Calibri"/>
              </a:rPr>
              <a:t>Headline KPIs — Qini, ITE correlation, spend reduction, precision</a:t>
            </a:r>
            <a:endParaRPr b="0" lang="en-GB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Shape 7"/>
          <p:cNvSpPr/>
          <p:nvPr/>
        </p:nvSpPr>
        <p:spPr>
          <a:xfrm>
            <a:off x="8915400" y="2889360"/>
            <a:ext cx="255600" cy="255600"/>
          </a:xfrm>
          <a:prstGeom prst="roundRect">
            <a:avLst>
              <a:gd name="adj" fmla="val 2857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0" name="Image 2" descr="/home/claude/icons/check_acid.png"/>
          <p:cNvPicPr/>
          <p:nvPr/>
        </p:nvPicPr>
        <p:blipFill>
          <a:blip r:embed="rId3"/>
          <a:stretch/>
        </p:blipFill>
        <p:spPr>
          <a:xfrm>
            <a:off x="8948520" y="2922840"/>
            <a:ext cx="189000" cy="189000"/>
          </a:xfrm>
          <a:prstGeom prst="rect">
            <a:avLst/>
          </a:prstGeom>
          <a:ln w="0">
            <a:noFill/>
          </a:ln>
        </p:spPr>
      </p:pic>
      <p:sp>
        <p:nvSpPr>
          <p:cNvPr id="1081" name="Text 8"/>
          <p:cNvSpPr/>
          <p:nvPr/>
        </p:nvSpPr>
        <p:spPr>
          <a:xfrm>
            <a:off x="9217080" y="285300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adb4bd"/>
                </a:solidFill>
                <a:latin typeface="Calibri"/>
                <a:ea typeface="Calibri"/>
              </a:rPr>
              <a:t>Qini curve vs. random targeting</a:t>
            </a:r>
            <a:endParaRPr b="0" lang="en-GB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Shape 9"/>
          <p:cNvSpPr/>
          <p:nvPr/>
        </p:nvSpPr>
        <p:spPr>
          <a:xfrm>
            <a:off x="8915400" y="3566160"/>
            <a:ext cx="255600" cy="255600"/>
          </a:xfrm>
          <a:prstGeom prst="roundRect">
            <a:avLst>
              <a:gd name="adj" fmla="val 2857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3" name="Image 3" descr="/home/claude/icons/check_acid.png"/>
          <p:cNvPicPr/>
          <p:nvPr/>
        </p:nvPicPr>
        <p:blipFill>
          <a:blip r:embed="rId4"/>
          <a:stretch/>
        </p:blipFill>
        <p:spPr>
          <a:xfrm>
            <a:off x="8948520" y="3599280"/>
            <a:ext cx="189000" cy="189000"/>
          </a:xfrm>
          <a:prstGeom prst="rect">
            <a:avLst/>
          </a:prstGeom>
          <a:ln w="0">
            <a:noFill/>
          </a:ln>
        </p:spPr>
      </p:pic>
      <p:sp>
        <p:nvSpPr>
          <p:cNvPr id="1084" name="Text 10"/>
          <p:cNvSpPr/>
          <p:nvPr/>
        </p:nvSpPr>
        <p:spPr>
          <a:xfrm>
            <a:off x="9217080" y="352944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adb4bd"/>
                </a:solidFill>
                <a:latin typeface="Calibri"/>
                <a:ea typeface="Calibri"/>
              </a:rPr>
              <a:t>Predicted ITE vs. simulated true effect</a:t>
            </a:r>
            <a:endParaRPr b="0" lang="en-GB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Shape 11"/>
          <p:cNvSpPr/>
          <p:nvPr/>
        </p:nvSpPr>
        <p:spPr>
          <a:xfrm>
            <a:off x="8915400" y="4242960"/>
            <a:ext cx="255600" cy="255600"/>
          </a:xfrm>
          <a:prstGeom prst="roundRect">
            <a:avLst>
              <a:gd name="adj" fmla="val 2857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6" name="Image 4" descr="/home/claude/icons/check_acid.png"/>
          <p:cNvPicPr/>
          <p:nvPr/>
        </p:nvPicPr>
        <p:blipFill>
          <a:blip r:embed="rId5"/>
          <a:stretch/>
        </p:blipFill>
        <p:spPr>
          <a:xfrm>
            <a:off x="8948520" y="4276080"/>
            <a:ext cx="189000" cy="189000"/>
          </a:xfrm>
          <a:prstGeom prst="rect">
            <a:avLst/>
          </a:prstGeom>
          <a:ln w="0">
            <a:noFill/>
          </a:ln>
        </p:spPr>
      </p:pic>
      <p:sp>
        <p:nvSpPr>
          <p:cNvPr id="1087" name="Text 12"/>
          <p:cNvSpPr/>
          <p:nvPr/>
        </p:nvSpPr>
        <p:spPr>
          <a:xfrm>
            <a:off x="9217080" y="420624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adb4bd"/>
                </a:solidFill>
                <a:latin typeface="Calibri"/>
                <a:ea typeface="Calibri"/>
              </a:rPr>
              <a:t>Renewal rate by treatment arm</a:t>
            </a:r>
            <a:endParaRPr b="0" lang="en-GB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Shape 13"/>
          <p:cNvSpPr/>
          <p:nvPr/>
        </p:nvSpPr>
        <p:spPr>
          <a:xfrm>
            <a:off x="8915400" y="4919400"/>
            <a:ext cx="255600" cy="255600"/>
          </a:xfrm>
          <a:prstGeom prst="roundRect">
            <a:avLst>
              <a:gd name="adj" fmla="val 28571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9" name="Image 5" descr="/home/claude/icons/check_acid.png"/>
          <p:cNvPicPr/>
          <p:nvPr/>
        </p:nvPicPr>
        <p:blipFill>
          <a:blip r:embed="rId6"/>
          <a:stretch/>
        </p:blipFill>
        <p:spPr>
          <a:xfrm>
            <a:off x="8948520" y="4952880"/>
            <a:ext cx="189000" cy="189000"/>
          </a:xfrm>
          <a:prstGeom prst="rect">
            <a:avLst/>
          </a:prstGeom>
          <a:ln w="0">
            <a:noFill/>
          </a:ln>
        </p:spPr>
      </p:pic>
      <p:sp>
        <p:nvSpPr>
          <p:cNvPr id="1090" name="Text 14"/>
          <p:cNvSpPr/>
          <p:nvPr/>
        </p:nvSpPr>
        <p:spPr>
          <a:xfrm>
            <a:off x="9217080" y="488304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adb4bd"/>
                </a:solidFill>
                <a:latin typeface="Calibri"/>
                <a:ea typeface="Calibri"/>
              </a:rPr>
              <a:t>Targeted vs. non-targeted segment economics</a:t>
            </a:r>
            <a:endParaRPr b="0" lang="en-GB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Shape 15"/>
          <p:cNvSpPr/>
          <p:nvPr/>
        </p:nvSpPr>
        <p:spPr>
          <a:xfrm>
            <a:off x="8915400" y="5623560"/>
            <a:ext cx="2377080" cy="840960"/>
          </a:xfrm>
          <a:prstGeom prst="roundRect">
            <a:avLst>
              <a:gd name="adj" fmla="val 5435"/>
            </a:avLst>
          </a:prstGeom>
          <a:solidFill>
            <a:srgbClr val="0a0c0f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Text 16"/>
          <p:cNvSpPr/>
          <p:nvPr/>
        </p:nvSpPr>
        <p:spPr>
          <a:xfrm>
            <a:off x="9034200" y="5696640"/>
            <a:ext cx="2148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i="1" lang="en-US" sz="800" spc="-1" strike="noStrike">
                <a:solidFill>
                  <a:srgbClr val="b7dd6b"/>
                </a:solidFill>
                <a:latin typeface="Calibri"/>
                <a:ea typeface="Calibri"/>
              </a:rPr>
              <a:t>Banner reads: "Recommends which renewing accounts should receive a retention discount — based on estimated causal treatment effect, not just churn propensity."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17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07 — DEPLOYMENT &amp; RESPONSIBLE USE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18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Text 19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37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DOCUMENTATION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Model card summary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8" name="Shape 2"/>
          <p:cNvSpPr/>
          <p:nvPr/>
        </p:nvSpPr>
        <p:spPr>
          <a:xfrm>
            <a:off x="640080" y="1783080"/>
            <a:ext cx="3501720" cy="420588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Shape 3"/>
          <p:cNvSpPr/>
          <p:nvPr/>
        </p:nvSpPr>
        <p:spPr>
          <a:xfrm>
            <a:off x="859680" y="20390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0" name="Image 0" descr="/home/claude/icons/target_acid.png"/>
          <p:cNvPicPr/>
          <p:nvPr/>
        </p:nvPicPr>
        <p:blipFill>
          <a:blip r:embed="rId1"/>
          <a:stretch/>
        </p:blipFill>
        <p:spPr>
          <a:xfrm>
            <a:off x="924840" y="21045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101" name="Text 4"/>
          <p:cNvSpPr/>
          <p:nvPr/>
        </p:nvSpPr>
        <p:spPr>
          <a:xfrm>
            <a:off x="859680" y="2697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8"/>
                </a:solidFill>
                <a:latin typeface="Cambria"/>
                <a:ea typeface="Cambria"/>
              </a:rPr>
              <a:t>Intended use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2" name="Text 5"/>
          <p:cNvSpPr/>
          <p:nvPr/>
        </p:nvSpPr>
        <p:spPr>
          <a:xfrm>
            <a:off x="859680" y="3154680"/>
            <a:ext cx="30628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Recommends which renewing accounts should receive a retention discount, based on estimated causal treatment effect — not just churn propensity.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Shape 6"/>
          <p:cNvSpPr/>
          <p:nvPr/>
        </p:nvSpPr>
        <p:spPr>
          <a:xfrm>
            <a:off x="4325040" y="1783080"/>
            <a:ext cx="3501720" cy="420588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Shape 7"/>
          <p:cNvSpPr/>
          <p:nvPr/>
        </p:nvSpPr>
        <p:spPr>
          <a:xfrm>
            <a:off x="4544640" y="20390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5" name="Image 1" descr="/home/claude/icons/warning_coral.png"/>
          <p:cNvPicPr/>
          <p:nvPr/>
        </p:nvPicPr>
        <p:blipFill>
          <a:blip r:embed="rId2"/>
          <a:stretch/>
        </p:blipFill>
        <p:spPr>
          <a:xfrm>
            <a:off x="4609800" y="21045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106" name="Text 8"/>
          <p:cNvSpPr/>
          <p:nvPr/>
        </p:nvSpPr>
        <p:spPr>
          <a:xfrm>
            <a:off x="4544640" y="2697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8"/>
                </a:solidFill>
                <a:latin typeface="Cambria"/>
                <a:ea typeface="Cambria"/>
              </a:rPr>
              <a:t>Limitations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Text 9"/>
          <p:cNvSpPr/>
          <p:nvPr/>
        </p:nvSpPr>
        <p:spPr>
          <a:xfrm>
            <a:off x="4544640" y="3154680"/>
            <a:ext cx="30628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T-learner regularization bias under an 80/20 treatment split. The randomized-holdout design is a hard production requirement — confounded historical data will not give valid uplift estimates.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8" name="Shape 10"/>
          <p:cNvSpPr/>
          <p:nvPr/>
        </p:nvSpPr>
        <p:spPr>
          <a:xfrm>
            <a:off x="8010000" y="1783080"/>
            <a:ext cx="3501720" cy="4205880"/>
          </a:xfrm>
          <a:prstGeom prst="roundRect">
            <a:avLst>
              <a:gd name="adj" fmla="val 1305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Shape 11"/>
          <p:cNvSpPr/>
          <p:nvPr/>
        </p:nvSpPr>
        <p:spPr>
          <a:xfrm>
            <a:off x="8229600" y="20390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0" name="Image 2" descr="/home/claude/icons/sliders_amber.png"/>
          <p:cNvPicPr/>
          <p:nvPr/>
        </p:nvPicPr>
        <p:blipFill>
          <a:blip r:embed="rId3"/>
          <a:stretch/>
        </p:blipFill>
        <p:spPr>
          <a:xfrm>
            <a:off x="8295120" y="21045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1111" name="Text 12"/>
          <p:cNvSpPr/>
          <p:nvPr/>
        </p:nvSpPr>
        <p:spPr>
          <a:xfrm>
            <a:off x="8229600" y="2697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8"/>
                </a:solidFill>
                <a:latin typeface="Cambria"/>
                <a:ea typeface="Cambria"/>
              </a:rPr>
              <a:t>Next steps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Text 13"/>
          <p:cNvSpPr/>
          <p:nvPr/>
        </p:nvSpPr>
        <p:spPr>
          <a:xfrm>
            <a:off x="8229600" y="3154680"/>
            <a:ext cx="30628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db4bd"/>
                </a:solidFill>
                <a:latin typeface="Calibri"/>
                <a:ea typeface="Calibri"/>
              </a:rPr>
              <a:t>Swap in EconML’s CausalForestDML, run a real randomized discount-offer experiment, extend to multi-tier treatments, and wire into CS tooling via webhook.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Text 14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07 — DEPLOYMENT &amp; RESPONSIBLE USE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 15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Text 16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38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Text 0"/>
          <p:cNvSpPr/>
          <p:nvPr/>
        </p:nvSpPr>
        <p:spPr>
          <a:xfrm>
            <a:off x="640080" y="3841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b7dd6b"/>
                </a:solidFill>
                <a:latin typeface="Courier New"/>
                <a:ea typeface="Courier New"/>
              </a:rPr>
              <a:t>// RESPONSIBLE USE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1"/>
          <p:cNvSpPr/>
          <p:nvPr/>
        </p:nvSpPr>
        <p:spPr>
          <a:xfrm>
            <a:off x="640080" y="6858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4f1e8"/>
                </a:solidFill>
                <a:latin typeface="Cambria"/>
                <a:ea typeface="Cambria"/>
              </a:rPr>
              <a:t>Causal guardrails, not afterthoughts</a:t>
            </a:r>
            <a:endParaRPr b="0" lang="en-GB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Shape 2"/>
          <p:cNvSpPr/>
          <p:nvPr/>
        </p:nvSpPr>
        <p:spPr>
          <a:xfrm>
            <a:off x="640080" y="1783080"/>
            <a:ext cx="10881000" cy="895680"/>
          </a:xfrm>
          <a:prstGeom prst="roundRect">
            <a:avLst>
              <a:gd name="adj" fmla="val 510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Shape 3"/>
          <p:cNvSpPr/>
          <p:nvPr/>
        </p:nvSpPr>
        <p:spPr>
          <a:xfrm>
            <a:off x="841320" y="195696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0" name="Image 0" descr="/home/claude/icons/lock_coral.png"/>
          <p:cNvPicPr/>
          <p:nvPr/>
        </p:nvPicPr>
        <p:blipFill>
          <a:blip r:embed="rId1"/>
          <a:stretch/>
        </p:blipFill>
        <p:spPr>
          <a:xfrm>
            <a:off x="912600" y="202824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1121" name="Text 4"/>
          <p:cNvSpPr/>
          <p:nvPr/>
        </p:nvSpPr>
        <p:spPr>
          <a:xfrm>
            <a:off x="1600200" y="187452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Randomization is a hard gate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Text 5"/>
          <p:cNvSpPr/>
          <p:nvPr/>
        </p:nvSpPr>
        <p:spPr>
          <a:xfrm>
            <a:off x="1600200" y="218556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model card states plainly: confounded historical data will NOT give valid uplift estimates. No production run without a real randomized holdout.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Shape 6"/>
          <p:cNvSpPr/>
          <p:nvPr/>
        </p:nvSpPr>
        <p:spPr>
          <a:xfrm>
            <a:off x="640080" y="2788920"/>
            <a:ext cx="10881000" cy="895680"/>
          </a:xfrm>
          <a:prstGeom prst="roundRect">
            <a:avLst>
              <a:gd name="adj" fmla="val 510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7"/>
          <p:cNvSpPr/>
          <p:nvPr/>
        </p:nvSpPr>
        <p:spPr>
          <a:xfrm>
            <a:off x="841320" y="296280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5" name="Image 1" descr="/home/claude/icons/eye_acid.png"/>
          <p:cNvPicPr/>
          <p:nvPr/>
        </p:nvPicPr>
        <p:blipFill>
          <a:blip r:embed="rId2"/>
          <a:stretch/>
        </p:blipFill>
        <p:spPr>
          <a:xfrm>
            <a:off x="912600" y="30340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1126" name="Text 8"/>
          <p:cNvSpPr/>
          <p:nvPr/>
        </p:nvSpPr>
        <p:spPr>
          <a:xfrm>
            <a:off x="1600200" y="28803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Ground-truth honesty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Text 9"/>
          <p:cNvSpPr/>
          <p:nvPr/>
        </p:nvSpPr>
        <p:spPr>
          <a:xfrm>
            <a:off x="1600200" y="319140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Every validation number in Section 05 is labeled as relying on a synthetic ground truth unavailable in real deployments — never implied to be a real-world guarantee.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10"/>
          <p:cNvSpPr/>
          <p:nvPr/>
        </p:nvSpPr>
        <p:spPr>
          <a:xfrm>
            <a:off x="640080" y="3794760"/>
            <a:ext cx="10881000" cy="895680"/>
          </a:xfrm>
          <a:prstGeom prst="roundRect">
            <a:avLst>
              <a:gd name="adj" fmla="val 510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Shape 11"/>
          <p:cNvSpPr/>
          <p:nvPr/>
        </p:nvSpPr>
        <p:spPr>
          <a:xfrm>
            <a:off x="841320" y="396864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0" name="Image 2" descr="/home/claude/icons/warning_amber.png"/>
          <p:cNvPicPr/>
          <p:nvPr/>
        </p:nvPicPr>
        <p:blipFill>
          <a:blip r:embed="rId3"/>
          <a:stretch/>
        </p:blipFill>
        <p:spPr>
          <a:xfrm>
            <a:off x="912600" y="403992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1131" name="Text 12"/>
          <p:cNvSpPr/>
          <p:nvPr/>
        </p:nvSpPr>
        <p:spPr>
          <a:xfrm>
            <a:off x="1600200" y="388620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Targets reported even when missed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Text 13"/>
          <p:cNvSpPr/>
          <p:nvPr/>
        </p:nvSpPr>
        <p:spPr>
          <a:xfrm>
            <a:off x="1600200" y="419724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The Qini coefficient (0.080) is shown against its 0.15 aspirational target and explained, not omitted or reframed as a success.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Shape 14"/>
          <p:cNvSpPr/>
          <p:nvPr/>
        </p:nvSpPr>
        <p:spPr>
          <a:xfrm>
            <a:off x="640080" y="4800600"/>
            <a:ext cx="10881000" cy="895680"/>
          </a:xfrm>
          <a:prstGeom prst="roundRect">
            <a:avLst>
              <a:gd name="adj" fmla="val 5102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Shape 15"/>
          <p:cNvSpPr/>
          <p:nvPr/>
        </p:nvSpPr>
        <p:spPr>
          <a:xfrm>
            <a:off x="841320" y="497448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5" name="Image 3" descr="/home/claude/icons/sliders_acid.png"/>
          <p:cNvPicPr/>
          <p:nvPr/>
        </p:nvPicPr>
        <p:blipFill>
          <a:blip r:embed="rId4"/>
          <a:stretch/>
        </p:blipFill>
        <p:spPr>
          <a:xfrm>
            <a:off x="912600" y="504576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1136" name="Text 16"/>
          <p:cNvSpPr/>
          <p:nvPr/>
        </p:nvSpPr>
        <p:spPr>
          <a:xfrm>
            <a:off x="1600200" y="489204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4f1e8"/>
                </a:solidFill>
                <a:latin typeface="Cambria"/>
                <a:ea typeface="Cambria"/>
              </a:rPr>
              <a:t>A named, concrete upgrade path</a:t>
            </a:r>
            <a:endParaRPr b="0" lang="en-GB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7" name="Text 17"/>
          <p:cNvSpPr/>
          <p:nvPr/>
        </p:nvSpPr>
        <p:spPr>
          <a:xfrm>
            <a:off x="1600200" y="520308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db4bd"/>
                </a:solidFill>
                <a:latin typeface="Calibri"/>
                <a:ea typeface="Calibri"/>
              </a:rPr>
              <a:t>EXTENDING.md specifies the exact swap — CausalForestDML — rather than a vague "future work" gesture.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Text 18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07 — DEPLOYMENT &amp; RESPONSIBLE USE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Text 19"/>
          <p:cNvSpPr/>
          <p:nvPr/>
        </p:nvSpPr>
        <p:spPr>
          <a:xfrm>
            <a:off x="6245280" y="65469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A. C. ECHEM  —  UPLIFT RENEWAL TARGETING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Text 20"/>
          <p:cNvSpPr/>
          <p:nvPr/>
        </p:nvSpPr>
        <p:spPr>
          <a:xfrm>
            <a:off x="11457360" y="654696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39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Shape 0"/>
          <p:cNvSpPr/>
          <p:nvPr/>
        </p:nvSpPr>
        <p:spPr>
          <a:xfrm>
            <a:off x="8869680" y="0"/>
            <a:ext cx="3321720" cy="685764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1"/>
          <p:cNvSpPr/>
          <p:nvPr/>
        </p:nvSpPr>
        <p:spPr>
          <a:xfrm>
            <a:off x="8732520" y="0"/>
            <a:ext cx="27000" cy="6857640"/>
          </a:xfrm>
          <a:prstGeom prst="rect">
            <a:avLst/>
          </a:prstGeom>
          <a:solidFill>
            <a:srgbClr val="1417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3" name="Image 0" descr="/home/claude/icons/trending_ink.png"/>
          <p:cNvPicPr/>
          <p:nvPr/>
        </p:nvPicPr>
        <p:blipFill>
          <a:blip r:embed="rId1"/>
          <a:stretch/>
        </p:blipFill>
        <p:spPr>
          <a:xfrm>
            <a:off x="9738360" y="914400"/>
            <a:ext cx="1279800" cy="1279800"/>
          </a:xfrm>
          <a:prstGeom prst="rect">
            <a:avLst/>
          </a:prstGeom>
          <a:ln w="0">
            <a:noFill/>
          </a:ln>
        </p:spPr>
      </p:pic>
      <p:sp>
        <p:nvSpPr>
          <p:cNvPr id="1144" name="Text 2"/>
          <p:cNvSpPr/>
          <p:nvPr/>
        </p:nvSpPr>
        <p:spPr>
          <a:xfrm>
            <a:off x="8869680" y="6035040"/>
            <a:ext cx="332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14171c"/>
                </a:solidFill>
                <a:latin typeface="Courier New"/>
                <a:ea typeface="Courier New"/>
              </a:rPr>
              <a:t>THANK YOU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Text 3"/>
          <p:cNvSpPr/>
          <p:nvPr/>
        </p:nvSpPr>
        <p:spPr>
          <a:xfrm>
            <a:off x="640080" y="50292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97" strike="noStrike">
                <a:solidFill>
                  <a:srgbClr val="f2b84b"/>
                </a:solidFill>
                <a:latin typeface="Courier New"/>
                <a:ea typeface="Courier New"/>
              </a:rPr>
              <a:t>// KEY TAKEAWAYS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Text 4"/>
          <p:cNvSpPr/>
          <p:nvPr/>
        </p:nvSpPr>
        <p:spPr>
          <a:xfrm>
            <a:off x="640080" y="82296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8"/>
                </a:solidFill>
                <a:latin typeface="Cambria"/>
                <a:ea typeface="Cambria"/>
              </a:rPr>
              <a:t>A disciplined, honest case for causal</a:t>
            </a:r>
            <a:endParaRPr b="0" lang="en-GB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8"/>
                </a:solidFill>
                <a:latin typeface="Cambria"/>
                <a:ea typeface="Cambria"/>
              </a:rPr>
              <a:t>targeting over blanket discounting</a:t>
            </a:r>
            <a:endParaRPr b="0" lang="en-GB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Shape 5"/>
          <p:cNvSpPr/>
          <p:nvPr/>
        </p:nvSpPr>
        <p:spPr>
          <a:xfrm>
            <a:off x="640080" y="23317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Shape 6"/>
          <p:cNvSpPr/>
          <p:nvPr/>
        </p:nvSpPr>
        <p:spPr>
          <a:xfrm>
            <a:off x="786240" y="249624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9" name="Image 1" descr="/home/claude/icons/coins_acid.png"/>
          <p:cNvPicPr/>
          <p:nvPr/>
        </p:nvPicPr>
        <p:blipFill>
          <a:blip r:embed="rId2"/>
          <a:stretch/>
        </p:blipFill>
        <p:spPr>
          <a:xfrm>
            <a:off x="833760" y="254376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150" name="Text 7"/>
          <p:cNvSpPr/>
          <p:nvPr/>
        </p:nvSpPr>
        <p:spPr>
          <a:xfrm>
            <a:off x="768240" y="2953440"/>
            <a:ext cx="1663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55% less discount spend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Shape 8"/>
          <p:cNvSpPr/>
          <p:nvPr/>
        </p:nvSpPr>
        <p:spPr>
          <a:xfrm>
            <a:off x="2724840" y="23317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Shape 9"/>
          <p:cNvSpPr/>
          <p:nvPr/>
        </p:nvSpPr>
        <p:spPr>
          <a:xfrm>
            <a:off x="2871360" y="249624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3" name="Image 2" descr="/home/claude/icons/target_acid.png"/>
          <p:cNvPicPr/>
          <p:nvPr/>
        </p:nvPicPr>
        <p:blipFill>
          <a:blip r:embed="rId3"/>
          <a:stretch/>
        </p:blipFill>
        <p:spPr>
          <a:xfrm>
            <a:off x="2918880" y="254376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154" name="Text 10"/>
          <p:cNvSpPr/>
          <p:nvPr/>
        </p:nvSpPr>
        <p:spPr>
          <a:xfrm>
            <a:off x="2853000" y="2953440"/>
            <a:ext cx="1663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77.5% persuadable precision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Shape 11"/>
          <p:cNvSpPr/>
          <p:nvPr/>
        </p:nvSpPr>
        <p:spPr>
          <a:xfrm>
            <a:off x="4809600" y="23317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Shape 12"/>
          <p:cNvSpPr/>
          <p:nvPr/>
        </p:nvSpPr>
        <p:spPr>
          <a:xfrm>
            <a:off x="4956120" y="249624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7" name="Image 3" descr="/home/claude/icons/gitcompare_acid.png"/>
          <p:cNvPicPr/>
          <p:nvPr/>
        </p:nvPicPr>
        <p:blipFill>
          <a:blip r:embed="rId4"/>
          <a:stretch/>
        </p:blipFill>
        <p:spPr>
          <a:xfrm>
            <a:off x="5003640" y="254376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158" name="Text 13"/>
          <p:cNvSpPr/>
          <p:nvPr/>
        </p:nvSpPr>
        <p:spPr>
          <a:xfrm>
            <a:off x="4937760" y="2953440"/>
            <a:ext cx="1663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0.522 ground-truth correlation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Shape 14"/>
          <p:cNvSpPr/>
          <p:nvPr/>
        </p:nvSpPr>
        <p:spPr>
          <a:xfrm>
            <a:off x="6894720" y="23317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1e232b"/>
          </a:solidFill>
          <a:ln w="12700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Shape 15"/>
          <p:cNvSpPr/>
          <p:nvPr/>
        </p:nvSpPr>
        <p:spPr>
          <a:xfrm>
            <a:off x="7040880" y="249624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262c35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1" name="Image 4" descr="/home/claude/icons/lock_acid.png"/>
          <p:cNvPicPr/>
          <p:nvPr/>
        </p:nvPicPr>
        <p:blipFill>
          <a:blip r:embed="rId5"/>
          <a:stretch/>
        </p:blipFill>
        <p:spPr>
          <a:xfrm>
            <a:off x="7088400" y="2543760"/>
            <a:ext cx="270360" cy="270360"/>
          </a:xfrm>
          <a:prstGeom prst="rect">
            <a:avLst/>
          </a:prstGeom>
          <a:ln w="0">
            <a:noFill/>
          </a:ln>
        </p:spPr>
      </p:pic>
      <p:sp>
        <p:nvSpPr>
          <p:cNvPr id="1162" name="Text 16"/>
          <p:cNvSpPr/>
          <p:nvPr/>
        </p:nvSpPr>
        <p:spPr>
          <a:xfrm>
            <a:off x="7022520" y="2953440"/>
            <a:ext cx="1663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f1e8"/>
                </a:solidFill>
                <a:latin typeface="Calibri"/>
                <a:ea typeface="Calibri"/>
              </a:rPr>
              <a:t>Randomization required, no exceptions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Text 17"/>
          <p:cNvSpPr/>
          <p:nvPr/>
        </p:nvSpPr>
        <p:spPr>
          <a:xfrm>
            <a:off x="640080" y="3794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f2b84b"/>
                </a:solidFill>
                <a:latin typeface="Courier New"/>
                <a:ea typeface="Courier New"/>
              </a:rPr>
              <a:t>Skills demonstrated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Text 18"/>
          <p:cNvSpPr/>
          <p:nvPr/>
        </p:nvSpPr>
        <p:spPr>
          <a:xfrm>
            <a:off x="640080" y="4114800"/>
            <a:ext cx="7863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db4bd"/>
                </a:solidFill>
                <a:latin typeface="Calibri"/>
                <a:ea typeface="Calibri"/>
              </a:rPr>
              <a:t>Causal inference (T-learner)  ·  Qini / uplift evaluation  ·  randomized-experiment design  ·  honest metric reporting  ·  RevOps-facing dashboarding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Shape 19"/>
          <p:cNvSpPr/>
          <p:nvPr/>
        </p:nvSpPr>
        <p:spPr>
          <a:xfrm>
            <a:off x="640080" y="5029200"/>
            <a:ext cx="2377080" cy="18000"/>
          </a:xfrm>
          <a:prstGeom prst="rect">
            <a:avLst/>
          </a:prstGeom>
          <a:solidFill>
            <a:srgbClr val="b7d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Text 20"/>
          <p:cNvSpPr/>
          <p:nvPr/>
        </p:nvSpPr>
        <p:spPr>
          <a:xfrm>
            <a:off x="640080" y="5212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8"/>
                </a:solidFill>
                <a:latin typeface="Cambria"/>
                <a:ea typeface="Cambria"/>
              </a:rPr>
              <a:t>Anthony Chinedu Echem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21"/>
          <p:cNvSpPr/>
          <p:nvPr/>
        </p:nvSpPr>
        <p:spPr>
          <a:xfrm>
            <a:off x="640080" y="5605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db4bd"/>
                </a:solidFill>
                <a:latin typeface="Calibri"/>
                <a:ea typeface="Calibri"/>
              </a:rPr>
              <a:t>Machine Learning Engineer &amp; Data Scientist</a:t>
            </a:r>
            <a:endParaRPr b="0" lang="en-GB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8" name="Shape 22"/>
          <p:cNvSpPr/>
          <p:nvPr/>
        </p:nvSpPr>
        <p:spPr>
          <a:xfrm>
            <a:off x="640080" y="5989320"/>
            <a:ext cx="328680" cy="328680"/>
          </a:xfrm>
          <a:prstGeom prst="roundRect">
            <a:avLst>
              <a:gd name="adj" fmla="val 22222"/>
            </a:avLst>
          </a:prstGeom>
          <a:solidFill>
            <a:srgbClr val="1e232b"/>
          </a:solidFill>
          <a:ln w="9525">
            <a:solidFill>
              <a:srgbClr val="333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9" name="Image 5" descr="/home/claude/icons/mail_cream.png"/>
          <p:cNvPicPr/>
          <p:nvPr/>
        </p:nvPicPr>
        <p:blipFill>
          <a:blip r:embed="rId6"/>
          <a:stretch/>
        </p:blipFill>
        <p:spPr>
          <a:xfrm>
            <a:off x="682920" y="6032160"/>
            <a:ext cx="243360" cy="243360"/>
          </a:xfrm>
          <a:prstGeom prst="rect">
            <a:avLst/>
          </a:prstGeom>
          <a:ln w="0">
            <a:noFill/>
          </a:ln>
        </p:spPr>
      </p:pic>
      <p:sp>
        <p:nvSpPr>
          <p:cNvPr id="1170" name="Text 23"/>
          <p:cNvSpPr/>
          <p:nvPr/>
        </p:nvSpPr>
        <p:spPr>
          <a:xfrm>
            <a:off x="1051560" y="60350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747e89"/>
                </a:solidFill>
                <a:latin typeface="Calibri"/>
                <a:ea typeface="Calibri"/>
              </a:rPr>
              <a:t>Portfolio contact available on request</a:t>
            </a:r>
            <a:endParaRPr b="0" lang="en-GB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Text 24"/>
          <p:cNvSpPr/>
          <p:nvPr/>
        </p:nvSpPr>
        <p:spPr>
          <a:xfrm>
            <a:off x="457200" y="654696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148" strike="noStrike">
                <a:solidFill>
                  <a:srgbClr val="747e89"/>
                </a:solidFill>
                <a:latin typeface="Courier New"/>
                <a:ea typeface="Courier New"/>
              </a:rPr>
              <a:t>THANK YOU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Text 25"/>
          <p:cNvSpPr/>
          <p:nvPr/>
        </p:nvSpPr>
        <p:spPr>
          <a:xfrm>
            <a:off x="7406640" y="65469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47e89"/>
                </a:solidFill>
                <a:latin typeface="Courier New"/>
                <a:ea typeface="Courier New"/>
              </a:rPr>
              <a:t>40 / 40</a:t>
            </a:r>
            <a:endParaRPr b="0" lang="en-GB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LibreOffice/24.2.2.2$MacOSX_X86_64 LibreOffice_project/d56cc158d8a96260b836f100ef4b4ef25d6f1a01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2026-09-08T02:43:28Z</dcterms:created>
  <dc:creator>Anthony Chinedu Echem</dc:creator>
  <dc:description/>
  <dc:language>en-GB</dc:language>
  <cp:lastModifiedBy/>
  <dcterms:modified xsi:type="dcterms:W3CDTF">2026-09-08T03:49:15Z</dcterms:modified>
  <cp:revision>3</cp:revision>
  <dc:subject>PptxGenJS Presentation</dc:subject>
  <dc:title>Causal Uplift Renewal-Discount Targeting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On-screen Show (16:9)</vt:lpwstr>
  </property>
  <property fmtid="{D5CDD505-2E9C-101B-9397-08002B2CF9AE}" pid="4" name="Slides">
    <vt:i4>40</vt:i4>
  </property>
</Properties>
</file>